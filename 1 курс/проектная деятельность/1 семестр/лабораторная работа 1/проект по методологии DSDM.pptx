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Economica"/>
      <p:regular r:id="rId15"/>
      <p:bold r:id="rId16"/>
      <p:italic r:id="rId17"/>
      <p:boldItalic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7.xml"/><Relationship Id="rId22" Type="http://schemas.openxmlformats.org/officeDocument/2006/relationships/font" Target="fonts/OpenSans-boldItalic.fntdata"/><Relationship Id="rId10" Type="http://schemas.openxmlformats.org/officeDocument/2006/relationships/slide" Target="slides/slide6.xml"/><Relationship Id="rId21"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Economica-regular.fntdata"/><Relationship Id="rId14" Type="http://schemas.openxmlformats.org/officeDocument/2006/relationships/slide" Target="slides/slide10.xml"/><Relationship Id="rId17" Type="http://schemas.openxmlformats.org/officeDocument/2006/relationships/font" Target="fonts/Economica-italic.fntdata"/><Relationship Id="rId16" Type="http://schemas.openxmlformats.org/officeDocument/2006/relationships/font" Target="fonts/Economica-bold.fntdata"/><Relationship Id="rId5" Type="http://schemas.openxmlformats.org/officeDocument/2006/relationships/slide" Target="slides/slide1.xml"/><Relationship Id="rId19" Type="http://schemas.openxmlformats.org/officeDocument/2006/relationships/font" Target="fonts/OpenSans-regular.fntdata"/><Relationship Id="rId6" Type="http://schemas.openxmlformats.org/officeDocument/2006/relationships/slide" Target="slides/slide2.xml"/><Relationship Id="rId18" Type="http://schemas.openxmlformats.org/officeDocument/2006/relationships/font" Target="fonts/Economica-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of us (Sarabeth starts intro)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c710f51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c710f51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(Sarabeth)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cc710f51a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cc710f51a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(Sarabeth)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RAD was growing quickly through the IT industry in the 1990’s but there was no Industry Standard RAD Framework and each customer seemed to need a slightly different framework.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Seeing this problem in the market place, the DSDM Consortium which consisted of 16 members in London was formed and sought to provide more discipline to the RAD method. DSDM consortium: not-for-profit, vendor-independent organisation which owns and administers the DSDM framework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1995 DSDM version 1 was completed and has been improved up continuously throughout its lifespan.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DSDM rebranded as DSDM Atern where Atern was a shortening of Arctic tern, a bird that can travel vast distances, emphasizing DSDM’s full project lifecycle focus.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DSDM spread in popularity and in 2003, 1 out of 5 developers in the UK used DSDM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cc710f51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cc710f5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c710f51a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c710f51a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(Nate)</a:t>
            </a:r>
            <a:endParaRPr/>
          </a:p>
          <a:p>
            <a:pPr indent="0" lvl="0" marL="0" rtl="0" algn="l">
              <a:spcBef>
                <a:spcPts val="0"/>
              </a:spcBef>
              <a:spcAft>
                <a:spcPts val="0"/>
              </a:spcAft>
              <a:buNone/>
            </a:pPr>
            <a:r>
              <a:rPr lang="en"/>
              <a:t>Consists of 7 phases:</a:t>
            </a:r>
            <a:endParaRPr/>
          </a:p>
          <a:p>
            <a:pPr indent="-317500" lvl="0" marL="457200" rtl="0" algn="l">
              <a:spcBef>
                <a:spcPts val="0"/>
              </a:spcBef>
              <a:spcAft>
                <a:spcPts val="0"/>
              </a:spcAft>
              <a:buSzPts val="1400"/>
              <a:buChar char="-"/>
            </a:pPr>
            <a:r>
              <a:rPr lang="en"/>
              <a:t>dark blue arrows represent normal forward direction of project flow</a:t>
            </a:r>
            <a:endParaRPr/>
          </a:p>
          <a:p>
            <a:pPr indent="-317500" lvl="0" marL="457200" rtl="0" algn="l">
              <a:spcBef>
                <a:spcPts val="0"/>
              </a:spcBef>
              <a:spcAft>
                <a:spcPts val="0"/>
              </a:spcAft>
              <a:buSzPts val="1400"/>
              <a:buChar char="-"/>
            </a:pPr>
            <a:r>
              <a:rPr lang="en"/>
              <a:t>green arrows indicate directions that may be taken as necessary</a:t>
            </a:r>
            <a:endParaRPr/>
          </a:p>
          <a:p>
            <a:pPr indent="-317500" lvl="0" marL="457200" rtl="0" algn="l">
              <a:spcBef>
                <a:spcPts val="0"/>
              </a:spcBef>
              <a:spcAft>
                <a:spcPts val="0"/>
              </a:spcAft>
              <a:buSzPts val="1400"/>
              <a:buChar char="-"/>
            </a:pPr>
            <a:r>
              <a:rPr lang="en"/>
              <a:t>red arrows represent a project flow direction that should only be taken if the project has been found to not meet the customer’s requirements.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c710f51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c710f51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(Sarabeth)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c710f51a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c710f51a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(Sarabeth)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a full-DSDM development cycle is not appropriate for all projects, some tools and techniques can be taken from DSDM to improve any project...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cc710f51a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cc710f51a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(Sarabeth)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c710f51a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c710f51a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(Sarabeth)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c710f5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cc710f5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www.codeproject.com/Articles/5097/What-Is-DSDM" TargetMode="External"/><Relationship Id="rId4" Type="http://schemas.openxmlformats.org/officeDocument/2006/relationships/hyperlink" Target="http://www.slideshare.net/bilalhashmishah/dsdm-12836937" TargetMode="External"/><Relationship Id="rId5" Type="http://schemas.openxmlformats.org/officeDocument/2006/relationships/hyperlink" Target="http://www.dsdm.org/content/what-dsdm" TargetMode="External"/><Relationship Id="rId6" Type="http://schemas.openxmlformats.org/officeDocument/2006/relationships/hyperlink" Target="http://www.dsdm.org/content/history-dsdm" TargetMode="External"/><Relationship Id="rId7" Type="http://schemas.openxmlformats.org/officeDocument/2006/relationships/hyperlink" Target="http://www.agilexp.com/presentations/DSDMexplained.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DSDM</a:t>
            </a:r>
            <a:endParaRPr/>
          </a:p>
          <a:p>
            <a:pPr indent="0" lvl="0" marL="0" rtl="0" algn="ctr">
              <a:spcBef>
                <a:spcPts val="0"/>
              </a:spcBef>
              <a:spcAft>
                <a:spcPts val="0"/>
              </a:spcAft>
              <a:buNone/>
            </a:pPr>
            <a:r>
              <a:rPr lang="en" sz="2400"/>
              <a:t>Dynamic Systems Development Method</a:t>
            </a:r>
            <a:endParaRPr sz="2400"/>
          </a:p>
        </p:txBody>
      </p:sp>
      <p:sp>
        <p:nvSpPr>
          <p:cNvPr id="63" name="Google Shape;63;p13"/>
          <p:cNvSpPr txBox="1"/>
          <p:nvPr>
            <p:ph type="ctrTitle"/>
          </p:nvPr>
        </p:nvSpPr>
        <p:spPr>
          <a:xfrm>
            <a:off x="6244500" y="3853525"/>
            <a:ext cx="2826300" cy="116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500">
                <a:solidFill>
                  <a:schemeClr val="dk2"/>
                </a:solidFill>
              </a:rPr>
              <a:t>Выполнили:</a:t>
            </a:r>
            <a:endParaRPr sz="1500">
              <a:solidFill>
                <a:schemeClr val="dk2"/>
              </a:solidFill>
            </a:endParaRPr>
          </a:p>
          <a:p>
            <a:pPr indent="0" lvl="0" marL="0" rtl="0" algn="ctr">
              <a:spcBef>
                <a:spcPts val="0"/>
              </a:spcBef>
              <a:spcAft>
                <a:spcPts val="0"/>
              </a:spcAft>
              <a:buNone/>
            </a:pPr>
            <a:r>
              <a:rPr lang="en" sz="1500">
                <a:solidFill>
                  <a:schemeClr val="dk2"/>
                </a:solidFill>
              </a:rPr>
              <a:t>Назаров Глеб</a:t>
            </a:r>
            <a:endParaRPr sz="1500">
              <a:solidFill>
                <a:schemeClr val="dk2"/>
              </a:solidFill>
            </a:endParaRPr>
          </a:p>
          <a:p>
            <a:pPr indent="0" lvl="0" marL="0" rtl="0" algn="ctr">
              <a:spcBef>
                <a:spcPts val="0"/>
              </a:spcBef>
              <a:spcAft>
                <a:spcPts val="0"/>
              </a:spcAft>
              <a:buNone/>
            </a:pPr>
            <a:r>
              <a:rPr lang="en" sz="1500">
                <a:solidFill>
                  <a:schemeClr val="dk2"/>
                </a:solidFill>
              </a:rPr>
              <a:t>Еркин Руслан</a:t>
            </a:r>
            <a:endParaRPr sz="1500">
              <a:solidFill>
                <a:schemeClr val="dk2"/>
              </a:solidFill>
            </a:endParaRPr>
          </a:p>
          <a:p>
            <a:pPr indent="0" lvl="0" marL="0" rtl="0" algn="ctr">
              <a:spcBef>
                <a:spcPts val="0"/>
              </a:spcBef>
              <a:spcAft>
                <a:spcPts val="0"/>
              </a:spcAft>
              <a:buNone/>
            </a:pPr>
            <a:r>
              <a:rPr lang="en" sz="1500">
                <a:solidFill>
                  <a:schemeClr val="dk2"/>
                </a:solidFill>
              </a:rPr>
              <a:t>Группа: ИНС-б-о-25-1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23160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Что такое DSDM?</a:t>
            </a:r>
            <a:endParaRPr/>
          </a:p>
        </p:txBody>
      </p:sp>
      <p:sp>
        <p:nvSpPr>
          <p:cNvPr id="69" name="Google Shape;69;p14"/>
          <p:cNvSpPr txBox="1"/>
          <p:nvPr>
            <p:ph idx="1" type="body"/>
          </p:nvPr>
        </p:nvSpPr>
        <p:spPr>
          <a:xfrm>
            <a:off x="311700" y="1258969"/>
            <a:ext cx="8520600" cy="4095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highlight>
                  <a:schemeClr val="lt1"/>
                </a:highlight>
              </a:rPr>
              <a:t>Dynamic Systems Development Method (Метод разработки динамических систем)</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“DSDM - это надежная гибкая система управления проектами и их реализации, которая предоставляет правильное решение прямо сейчас”</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Похож на SCRUM, но лучше всего использовать, когда временные требования фиксированы (то есть заранее известно)</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Основное внимание уделяется передачи решений для остальных членов команды, а не управлению их деятельностью </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Итеративное развитие (подход, при котором продукт или проект создаются и улучшаются постепенно), шаги могут повторяться много раз</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Тесное общение со стейкхолдерами (заказчиками)</a:t>
            </a:r>
            <a:endParaRPr sz="1500">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1600"/>
              </a:spcAft>
              <a:buNone/>
            </a:pPr>
            <a:r>
              <a:t/>
            </a:r>
            <a:endParaRPr/>
          </a:p>
        </p:txBody>
      </p:sp>
      <p:pic>
        <p:nvPicPr>
          <p:cNvPr id="75" name="Google Shape;75;p15"/>
          <p:cNvPicPr preferRelativeResize="0"/>
          <p:nvPr/>
        </p:nvPicPr>
        <p:blipFill>
          <a:blip r:embed="rId3">
            <a:alphaModFix/>
          </a:blip>
          <a:stretch>
            <a:fillRect/>
          </a:stretch>
        </p:blipFill>
        <p:spPr>
          <a:xfrm>
            <a:off x="1092025" y="106325"/>
            <a:ext cx="6959950" cy="4930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159900" y="240050"/>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t>Принципы разработки динамических систем</a:t>
            </a:r>
            <a:endParaRPr sz="3000"/>
          </a:p>
        </p:txBody>
      </p:sp>
      <p:sp>
        <p:nvSpPr>
          <p:cNvPr id="81" name="Google Shape;81;p16"/>
          <p:cNvSpPr txBox="1"/>
          <p:nvPr>
            <p:ph idx="1" type="body"/>
          </p:nvPr>
        </p:nvSpPr>
        <p:spPr>
          <a:xfrm>
            <a:off x="311700" y="1225225"/>
            <a:ext cx="8520600" cy="3699000"/>
          </a:xfrm>
          <a:prstGeom prst="rect">
            <a:avLst/>
          </a:prstGeom>
        </p:spPr>
        <p:txBody>
          <a:bodyPr anchorCtr="0" anchor="t" bIns="91425" lIns="91425" spcFirstLastPara="1" rIns="91425" wrap="square" tIns="91425">
            <a:noAutofit/>
          </a:bodyPr>
          <a:lstStyle/>
          <a:p>
            <a:pPr indent="-342900" lvl="0" marL="457200" marR="495300" rtl="0" algn="l">
              <a:lnSpc>
                <a:spcPct val="155555"/>
              </a:lnSpc>
              <a:spcBef>
                <a:spcPts val="0"/>
              </a:spcBef>
              <a:spcAft>
                <a:spcPts val="0"/>
              </a:spcAft>
              <a:buSzPts val="1800"/>
              <a:buAutoNum type="arabicPeriod"/>
            </a:pPr>
            <a:r>
              <a:rPr lang="en" sz="1350">
                <a:highlight>
                  <a:schemeClr val="lt1"/>
                </a:highlight>
              </a:rPr>
              <a:t>Сосредоточение на проектах, связанные с более крупными бизнесами</a:t>
            </a:r>
            <a:endParaRPr sz="1350">
              <a:highlight>
                <a:schemeClr val="lt1"/>
              </a:highlight>
            </a:endParaRPr>
          </a:p>
          <a:p>
            <a:pPr indent="-342900" lvl="0" marL="457200" marR="495300" rtl="0" algn="l">
              <a:lnSpc>
                <a:spcPct val="155555"/>
              </a:lnSpc>
              <a:spcBef>
                <a:spcPts val="0"/>
              </a:spcBef>
              <a:spcAft>
                <a:spcPts val="0"/>
              </a:spcAft>
              <a:buSzPts val="1800"/>
              <a:buAutoNum type="arabicPeriod"/>
            </a:pPr>
            <a:r>
              <a:rPr lang="en" sz="1350">
                <a:highlight>
                  <a:schemeClr val="lt1"/>
                </a:highlight>
              </a:rPr>
              <a:t>Выполнение работы вовремя</a:t>
            </a:r>
            <a:endParaRPr sz="1350">
              <a:highlight>
                <a:schemeClr val="lt1"/>
              </a:highlight>
            </a:endParaRPr>
          </a:p>
          <a:p>
            <a:pPr indent="-342900" lvl="0" marL="457200" marR="495300" rtl="0" algn="l">
              <a:lnSpc>
                <a:spcPct val="155555"/>
              </a:lnSpc>
              <a:spcBef>
                <a:spcPts val="0"/>
              </a:spcBef>
              <a:spcAft>
                <a:spcPts val="0"/>
              </a:spcAft>
              <a:buSzPts val="1800"/>
              <a:buAutoNum type="arabicPeriod"/>
            </a:pPr>
            <a:r>
              <a:rPr lang="en" sz="1350">
                <a:highlight>
                  <a:schemeClr val="lt1"/>
                </a:highlight>
              </a:rPr>
              <a:t>Сотрудничество с другими командами (collaborations)</a:t>
            </a:r>
            <a:endParaRPr sz="1350">
              <a:highlight>
                <a:schemeClr val="lt1"/>
              </a:highlight>
            </a:endParaRPr>
          </a:p>
          <a:p>
            <a:pPr indent="-342900" lvl="0" marL="457200" marR="495300" rtl="0" algn="l">
              <a:lnSpc>
                <a:spcPct val="155555"/>
              </a:lnSpc>
              <a:spcBef>
                <a:spcPts val="0"/>
              </a:spcBef>
              <a:spcAft>
                <a:spcPts val="0"/>
              </a:spcAft>
              <a:buSzPts val="1800"/>
              <a:buAutoNum type="arabicPeriod"/>
            </a:pPr>
            <a:r>
              <a:rPr lang="en" sz="1350">
                <a:highlight>
                  <a:schemeClr val="lt1"/>
                </a:highlight>
              </a:rPr>
              <a:t>Никогда не идти на компромиссы в вопросах качества</a:t>
            </a:r>
            <a:endParaRPr sz="1350">
              <a:highlight>
                <a:schemeClr val="lt1"/>
              </a:highlight>
            </a:endParaRPr>
          </a:p>
          <a:p>
            <a:pPr indent="-342900" lvl="0" marL="457200" marR="495300" rtl="0" algn="l">
              <a:lnSpc>
                <a:spcPct val="155555"/>
              </a:lnSpc>
              <a:spcBef>
                <a:spcPts val="0"/>
              </a:spcBef>
              <a:spcAft>
                <a:spcPts val="0"/>
              </a:spcAft>
              <a:buSzPts val="1800"/>
              <a:buAutoNum type="arabicPeriod"/>
            </a:pPr>
            <a:r>
              <a:rPr lang="en" sz="1350">
                <a:highlight>
                  <a:schemeClr val="lt1"/>
                </a:highlight>
              </a:rPr>
              <a:t>Проект строится постепенно, опираясь на изначально заготовленный план</a:t>
            </a:r>
            <a:endParaRPr sz="1350">
              <a:highlight>
                <a:schemeClr val="lt1"/>
              </a:highlight>
            </a:endParaRPr>
          </a:p>
          <a:p>
            <a:pPr indent="-342900" lvl="0" marL="457200" marR="495300" rtl="0" algn="l">
              <a:lnSpc>
                <a:spcPct val="155555"/>
              </a:lnSpc>
              <a:spcBef>
                <a:spcPts val="0"/>
              </a:spcBef>
              <a:spcAft>
                <a:spcPts val="0"/>
              </a:spcAft>
              <a:buSzPts val="1800"/>
              <a:buAutoNum type="arabicPeriod"/>
            </a:pPr>
            <a:r>
              <a:rPr lang="en" sz="1350">
                <a:highlight>
                  <a:schemeClr val="lt1"/>
                </a:highlight>
              </a:rPr>
              <a:t>Итеративное развитие (улучшение продукта постепенно)</a:t>
            </a:r>
            <a:endParaRPr sz="1350">
              <a:highlight>
                <a:schemeClr val="lt1"/>
              </a:highlight>
            </a:endParaRPr>
          </a:p>
          <a:p>
            <a:pPr indent="-342900" lvl="0" marL="457200" marR="495300" rtl="0" algn="l">
              <a:lnSpc>
                <a:spcPct val="155555"/>
              </a:lnSpc>
              <a:spcBef>
                <a:spcPts val="0"/>
              </a:spcBef>
              <a:spcAft>
                <a:spcPts val="0"/>
              </a:spcAft>
              <a:buSzPts val="1800"/>
              <a:buAutoNum type="arabicPeriod"/>
            </a:pPr>
            <a:r>
              <a:rPr lang="en" sz="1350">
                <a:highlight>
                  <a:schemeClr val="lt1"/>
                </a:highlight>
              </a:rPr>
              <a:t>Общение с командой доступным и понятным языком</a:t>
            </a:r>
            <a:endParaRPr sz="1350">
              <a:highlight>
                <a:schemeClr val="lt1"/>
              </a:highlight>
            </a:endParaRPr>
          </a:p>
          <a:p>
            <a:pPr indent="-342900" lvl="0" marL="457200" marR="495300" rtl="0" algn="l">
              <a:lnSpc>
                <a:spcPct val="155555"/>
              </a:lnSpc>
              <a:spcBef>
                <a:spcPts val="0"/>
              </a:spcBef>
              <a:spcAft>
                <a:spcPts val="0"/>
              </a:spcAft>
              <a:buSzPts val="1800"/>
              <a:buAutoNum type="arabicPeriod"/>
            </a:pPr>
            <a:r>
              <a:rPr lang="en" sz="1350">
                <a:highlight>
                  <a:schemeClr val="lt1"/>
                </a:highlight>
              </a:rPr>
              <a:t>Демонстрация </a:t>
            </a:r>
            <a:r>
              <a:rPr lang="en" sz="1350">
                <a:highlight>
                  <a:schemeClr val="lt1"/>
                </a:highlight>
              </a:rPr>
              <a:t>уверенного</a:t>
            </a:r>
            <a:r>
              <a:rPr lang="en" sz="1350">
                <a:highlight>
                  <a:schemeClr val="lt1"/>
                </a:highlight>
              </a:rPr>
              <a:t> понимания в поставленной задаче</a:t>
            </a:r>
            <a:endParaRPr sz="1350">
              <a:highlight>
                <a:schemeClr val="lt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7"/>
          <p:cNvPicPr preferRelativeResize="0"/>
          <p:nvPr/>
        </p:nvPicPr>
        <p:blipFill>
          <a:blip r:embed="rId3">
            <a:alphaModFix/>
          </a:blip>
          <a:stretch>
            <a:fillRect/>
          </a:stretch>
        </p:blipFill>
        <p:spPr>
          <a:xfrm>
            <a:off x="457401" y="232126"/>
            <a:ext cx="8289361" cy="4758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Почему DSDM?</a:t>
            </a:r>
            <a:endParaRPr/>
          </a:p>
        </p:txBody>
      </p:sp>
      <p:sp>
        <p:nvSpPr>
          <p:cNvPr id="92" name="Google Shape;92;p1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highlight>
                  <a:schemeClr val="lt1"/>
                </a:highlight>
              </a:rPr>
              <a:t>Высокая вовлеченность пользователей приводит к их повышенной удовлетворенности</a:t>
            </a:r>
            <a:endParaRPr sz="1600">
              <a:highlight>
                <a:schemeClr val="lt1"/>
              </a:highlight>
            </a:endParaRPr>
          </a:p>
          <a:p>
            <a:pPr indent="-330200" lvl="0" marL="457200" rtl="0" algn="l">
              <a:spcBef>
                <a:spcPts val="0"/>
              </a:spcBef>
              <a:spcAft>
                <a:spcPts val="0"/>
              </a:spcAft>
              <a:buSzPts val="1600"/>
              <a:buChar char="●"/>
            </a:pPr>
            <a:r>
              <a:rPr lang="en" sz="1600">
                <a:highlight>
                  <a:schemeClr val="lt1"/>
                </a:highlight>
              </a:rPr>
              <a:t>Меньше лишних формальностей и устранение барьеров в общении между заинтересованными сторонами</a:t>
            </a:r>
            <a:endParaRPr sz="1600">
              <a:highlight>
                <a:schemeClr val="lt1"/>
              </a:highlight>
            </a:endParaRPr>
          </a:p>
          <a:p>
            <a:pPr indent="-330200" lvl="0" marL="457200" rtl="0" algn="l">
              <a:spcBef>
                <a:spcPts val="0"/>
              </a:spcBef>
              <a:spcAft>
                <a:spcPts val="0"/>
              </a:spcAft>
              <a:buSzPts val="1600"/>
              <a:buChar char="●"/>
            </a:pPr>
            <a:r>
              <a:rPr lang="en" sz="1600">
                <a:highlight>
                  <a:schemeClr val="lt1"/>
                </a:highlight>
              </a:rPr>
              <a:t>Система предоставляется </a:t>
            </a:r>
            <a:r>
              <a:rPr lang="en" sz="1600">
                <a:highlight>
                  <a:schemeClr val="lt1"/>
                </a:highlight>
              </a:rPr>
              <a:t>заказчику</a:t>
            </a:r>
            <a:r>
              <a:rPr lang="en" sz="1600">
                <a:highlight>
                  <a:schemeClr val="lt1"/>
                </a:highlight>
              </a:rPr>
              <a:t> вовремя и в рамках бюджета</a:t>
            </a:r>
            <a:endParaRPr sz="1600">
              <a:highlight>
                <a:schemeClr val="lt1"/>
              </a:highlight>
            </a:endParaRPr>
          </a:p>
          <a:p>
            <a:pPr indent="-330200" lvl="0" marL="457200" rtl="0" algn="l">
              <a:spcBef>
                <a:spcPts val="0"/>
              </a:spcBef>
              <a:spcAft>
                <a:spcPts val="0"/>
              </a:spcAft>
              <a:buSzPts val="1600"/>
              <a:buChar char="●"/>
            </a:pPr>
            <a:r>
              <a:rPr lang="en" sz="1600">
                <a:highlight>
                  <a:schemeClr val="lt1"/>
                </a:highlight>
              </a:rPr>
              <a:t>Серьезные проблемы вряд ли возникнут на поздних этапах разработки</a:t>
            </a:r>
            <a:endParaRPr sz="1600">
              <a:highlight>
                <a:schemeClr val="lt1"/>
              </a:highlight>
            </a:endParaRPr>
          </a:p>
          <a:p>
            <a:pPr indent="-330200" lvl="0" marL="457200" rtl="0" algn="l">
              <a:spcBef>
                <a:spcPts val="0"/>
              </a:spcBef>
              <a:spcAft>
                <a:spcPts val="0"/>
              </a:spcAft>
              <a:buSzPts val="1600"/>
              <a:buChar char="●"/>
            </a:pPr>
            <a:r>
              <a:rPr lang="en" sz="1600">
                <a:highlight>
                  <a:schemeClr val="lt1"/>
                </a:highlight>
              </a:rPr>
              <a:t>Этапы всегда можно повторить, а изменения отменить</a:t>
            </a:r>
            <a:endParaRPr sz="1600">
              <a:highlight>
                <a:schemeClr val="lt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Инструменты и методы</a:t>
            </a:r>
            <a:endParaRPr/>
          </a:p>
        </p:txBody>
      </p:sp>
      <p:sp>
        <p:nvSpPr>
          <p:cNvPr id="98" name="Google Shape;98;p1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highlight>
                  <a:schemeClr val="lt1"/>
                </a:highlight>
              </a:rPr>
              <a:t>MoSCoW Prioritization — Расстановка приоритетов по методу MoSCoW</a:t>
            </a:r>
            <a:endParaRPr>
              <a:highlight>
                <a:schemeClr val="lt1"/>
              </a:highlight>
            </a:endParaRPr>
          </a:p>
          <a:p>
            <a:pPr indent="-342900" lvl="0" marL="457200" rtl="0" algn="l">
              <a:spcBef>
                <a:spcPts val="0"/>
              </a:spcBef>
              <a:spcAft>
                <a:spcPts val="0"/>
              </a:spcAft>
              <a:buSzPts val="1800"/>
              <a:buChar char="●"/>
            </a:pPr>
            <a:r>
              <a:rPr lang="en">
                <a:highlight>
                  <a:schemeClr val="lt1"/>
                </a:highlight>
              </a:rPr>
              <a:t>Создание макетов (прототипов)</a:t>
            </a:r>
            <a:endParaRPr>
              <a:highlight>
                <a:schemeClr val="lt1"/>
              </a:highlight>
            </a:endParaRPr>
          </a:p>
          <a:p>
            <a:pPr indent="-342900" lvl="0" marL="457200" rtl="0" algn="l">
              <a:spcBef>
                <a:spcPts val="0"/>
              </a:spcBef>
              <a:spcAft>
                <a:spcPts val="0"/>
              </a:spcAft>
              <a:buSzPts val="1800"/>
              <a:buChar char="●"/>
            </a:pPr>
            <a:r>
              <a:rPr lang="en">
                <a:highlight>
                  <a:schemeClr val="lt1"/>
                </a:highlight>
              </a:rPr>
              <a:t> Рабочие встречи с модератором</a:t>
            </a:r>
            <a:endParaRPr>
              <a:highlight>
                <a:schemeClr val="lt1"/>
              </a:highlight>
            </a:endParaRPr>
          </a:p>
          <a:p>
            <a:pPr indent="-342900" lvl="0" marL="457200" rtl="0" algn="l">
              <a:spcBef>
                <a:spcPts val="0"/>
              </a:spcBef>
              <a:spcAft>
                <a:spcPts val="0"/>
              </a:spcAft>
              <a:buSzPts val="1800"/>
              <a:buChar char="●"/>
            </a:pPr>
            <a:r>
              <a:rPr lang="en">
                <a:highlight>
                  <a:schemeClr val="lt1"/>
                </a:highlight>
              </a:rPr>
              <a:t> Жёсткое ограничение по времени (таймбоксинг)</a:t>
            </a:r>
            <a:endParaRPr>
              <a:highlight>
                <a:schemeClr val="lt1"/>
              </a:highlight>
            </a:endParaRPr>
          </a:p>
          <a:p>
            <a:pPr indent="-342900" lvl="0" marL="457200" rtl="0" algn="l">
              <a:spcBef>
                <a:spcPts val="0"/>
              </a:spcBef>
              <a:spcAft>
                <a:spcPts val="0"/>
              </a:spcAft>
              <a:buSzPts val="1800"/>
              <a:buChar char="●"/>
            </a:pPr>
            <a:r>
              <a:rPr lang="en">
                <a:highlight>
                  <a:schemeClr val="lt1"/>
                </a:highlight>
              </a:rPr>
              <a:t>Моделирование и поэтапная разработка</a:t>
            </a:r>
            <a:endParaRPr>
              <a:highlight>
                <a:schemeClr val="lt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Командные роли</a:t>
            </a:r>
            <a:endParaRPr/>
          </a:p>
        </p:txBody>
      </p:sp>
      <p:sp>
        <p:nvSpPr>
          <p:cNvPr id="104" name="Google Shape;104;p2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SzPts val="1400"/>
              <a:buChar char="●"/>
            </a:pPr>
            <a:r>
              <a:rPr lang="en" sz="1400">
                <a:highlight>
                  <a:schemeClr val="lt1"/>
                </a:highlight>
              </a:rPr>
              <a:t>Executive Sponsor — Главный заказчик / Стратегический спонсор</a:t>
            </a:r>
            <a:endParaRPr sz="1400">
              <a:highlight>
                <a:schemeClr val="lt1"/>
              </a:highlight>
            </a:endParaRPr>
          </a:p>
          <a:p>
            <a:pPr indent="-317500" lvl="0" marL="457200" rtl="0" algn="l">
              <a:spcBef>
                <a:spcPts val="0"/>
              </a:spcBef>
              <a:spcAft>
                <a:spcPts val="0"/>
              </a:spcAft>
              <a:buSzPts val="1400"/>
              <a:buChar char="●"/>
            </a:pPr>
            <a:r>
              <a:rPr lang="en" sz="1400">
                <a:highlight>
                  <a:schemeClr val="lt1"/>
                </a:highlight>
              </a:rPr>
              <a:t>Ambassador User — Представитель пользователей / Ключевой пользователь</a:t>
            </a:r>
            <a:endParaRPr sz="1400">
              <a:highlight>
                <a:schemeClr val="lt1"/>
              </a:highlight>
            </a:endParaRPr>
          </a:p>
          <a:p>
            <a:pPr indent="-317500" lvl="0" marL="457200" rtl="0" algn="l">
              <a:spcBef>
                <a:spcPts val="0"/>
              </a:spcBef>
              <a:spcAft>
                <a:spcPts val="0"/>
              </a:spcAft>
              <a:buSzPts val="1400"/>
              <a:buChar char="●"/>
            </a:pPr>
            <a:r>
              <a:rPr lang="en" sz="1400">
                <a:highlight>
                  <a:schemeClr val="lt1"/>
                </a:highlight>
              </a:rPr>
              <a:t>Project Manager — Руководитель проекта / Менеджер проекта</a:t>
            </a:r>
            <a:endParaRPr sz="1400">
              <a:highlight>
                <a:schemeClr val="lt1"/>
              </a:highlight>
            </a:endParaRPr>
          </a:p>
          <a:p>
            <a:pPr indent="-317500" lvl="0" marL="457200" rtl="0" algn="l">
              <a:spcBef>
                <a:spcPts val="0"/>
              </a:spcBef>
              <a:spcAft>
                <a:spcPts val="0"/>
              </a:spcAft>
              <a:buSzPts val="1400"/>
              <a:buChar char="●"/>
            </a:pPr>
            <a:r>
              <a:rPr lang="en" sz="1400">
                <a:highlight>
                  <a:schemeClr val="lt1"/>
                </a:highlight>
              </a:rPr>
              <a:t>Technical Coordinator — Технический руководитель / Архитектор</a:t>
            </a:r>
            <a:endParaRPr sz="1400">
              <a:highlight>
                <a:schemeClr val="lt1"/>
              </a:highlight>
            </a:endParaRPr>
          </a:p>
          <a:p>
            <a:pPr indent="-317500" lvl="0" marL="457200" rtl="0" algn="l">
              <a:spcBef>
                <a:spcPts val="0"/>
              </a:spcBef>
              <a:spcAft>
                <a:spcPts val="0"/>
              </a:spcAft>
              <a:buSzPts val="1400"/>
              <a:buChar char="●"/>
            </a:pPr>
            <a:r>
              <a:rPr lang="en" sz="1400">
                <a:highlight>
                  <a:schemeClr val="lt1"/>
                </a:highlight>
              </a:rPr>
              <a:t>Team Leader — Лидер команды / Старший разработчик</a:t>
            </a:r>
            <a:endParaRPr sz="1400">
              <a:highlight>
                <a:schemeClr val="lt1"/>
              </a:highlight>
            </a:endParaRPr>
          </a:p>
          <a:p>
            <a:pPr indent="-317500" lvl="0" marL="457200" rtl="0" algn="l">
              <a:spcBef>
                <a:spcPts val="0"/>
              </a:spcBef>
              <a:spcAft>
                <a:spcPts val="0"/>
              </a:spcAft>
              <a:buSzPts val="1400"/>
              <a:buChar char="●"/>
            </a:pPr>
            <a:r>
              <a:rPr lang="en" sz="1400">
                <a:highlight>
                  <a:schemeClr val="lt1"/>
                </a:highlight>
              </a:rPr>
              <a:t>Developer — Разработчик / Программист</a:t>
            </a:r>
            <a:endParaRPr sz="1400">
              <a:highlight>
                <a:schemeClr val="lt1"/>
              </a:highlight>
            </a:endParaRPr>
          </a:p>
          <a:p>
            <a:pPr indent="-317500" lvl="0" marL="457200" rtl="0" algn="l">
              <a:spcBef>
                <a:spcPts val="0"/>
              </a:spcBef>
              <a:spcAft>
                <a:spcPts val="0"/>
              </a:spcAft>
              <a:buSzPts val="1400"/>
              <a:buChar char="●"/>
            </a:pPr>
            <a:r>
              <a:rPr lang="en" sz="1400">
                <a:highlight>
                  <a:schemeClr val="lt1"/>
                </a:highlight>
              </a:rPr>
              <a:t>Tester — Тестировщик / Специалист по тестированию</a:t>
            </a:r>
            <a:endParaRPr sz="1400">
              <a:highlight>
                <a:schemeClr val="lt1"/>
              </a:highlight>
            </a:endParaRPr>
          </a:p>
          <a:p>
            <a:pPr indent="-317500" lvl="0" marL="457200" rtl="0" algn="l">
              <a:spcBef>
                <a:spcPts val="0"/>
              </a:spcBef>
              <a:spcAft>
                <a:spcPts val="0"/>
              </a:spcAft>
              <a:buSzPts val="1400"/>
              <a:buChar char="●"/>
            </a:pPr>
            <a:r>
              <a:rPr lang="en" sz="1400">
                <a:highlight>
                  <a:schemeClr val="lt1"/>
                </a:highlight>
              </a:rPr>
              <a:t>Facilitator — Модератор / Ведущий совещаний</a:t>
            </a:r>
            <a:endParaRPr sz="1400">
              <a:highlight>
                <a:schemeClr val="lt1"/>
              </a:highlight>
            </a:endParaRPr>
          </a:p>
          <a:p>
            <a:pPr indent="0" lvl="0" marL="0" rtl="0" algn="l">
              <a:spcBef>
                <a:spcPts val="1200"/>
              </a:spcBef>
              <a:spcAft>
                <a:spcPts val="0"/>
              </a:spcAft>
              <a:buClr>
                <a:schemeClr val="dk1"/>
              </a:buClr>
              <a:buSzPts val="1100"/>
              <a:buFont typeface="Arial"/>
              <a:buNone/>
            </a:pPr>
            <a:r>
              <a:t/>
            </a:r>
            <a:endParaRPr sz="1400">
              <a:highlight>
                <a:schemeClr val="lt1"/>
              </a:highlight>
            </a:endParaRPr>
          </a:p>
          <a:p>
            <a:pPr indent="0" lvl="0" marL="0" rtl="0" algn="l">
              <a:spcBef>
                <a:spcPts val="1600"/>
              </a:spcBef>
              <a:spcAft>
                <a:spcPts val="1600"/>
              </a:spcAft>
              <a:buNone/>
            </a:pPr>
            <a:r>
              <a:t/>
            </a:r>
            <a:endParaRPr sz="1400">
              <a:highlight>
                <a:schemeClr val="lt1"/>
              </a:highlight>
            </a:endParaRPr>
          </a:p>
        </p:txBody>
      </p:sp>
      <p:pic>
        <p:nvPicPr>
          <p:cNvPr id="105" name="Google Shape;105;p20"/>
          <p:cNvPicPr preferRelativeResize="0"/>
          <p:nvPr/>
        </p:nvPicPr>
        <p:blipFill>
          <a:blip r:embed="rId3">
            <a:alphaModFix/>
          </a:blip>
          <a:stretch>
            <a:fillRect/>
          </a:stretch>
        </p:blipFill>
        <p:spPr>
          <a:xfrm>
            <a:off x="5810975" y="2925250"/>
            <a:ext cx="3408925" cy="2100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Не рекомендуется использовать</a:t>
            </a:r>
            <a:endParaRPr/>
          </a:p>
        </p:txBody>
      </p:sp>
      <p:sp>
        <p:nvSpPr>
          <p:cNvPr id="111" name="Google Shape;111;p2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highlight>
                  <a:schemeClr val="lt1"/>
                </a:highlight>
              </a:rPr>
              <a:t>DSDM — это не решение на все случаи жизни. Полный набор методов DSDM НЕ стоит использовать, если проект:</a:t>
            </a:r>
            <a:endParaRPr sz="1500">
              <a:highlight>
                <a:schemeClr val="lt1"/>
              </a:highlight>
            </a:endParaRPr>
          </a:p>
          <a:p>
            <a:pPr indent="-323850" lvl="0" marL="457200" rtl="0" algn="l">
              <a:spcBef>
                <a:spcPts val="1600"/>
              </a:spcBef>
              <a:spcAft>
                <a:spcPts val="0"/>
              </a:spcAft>
              <a:buSzPts val="1500"/>
              <a:buChar char="●"/>
            </a:pPr>
            <a:r>
              <a:rPr lang="en" sz="1500">
                <a:highlight>
                  <a:schemeClr val="lt1"/>
                </a:highlight>
              </a:rPr>
              <a:t>Работает в реальном времени</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Не имеет фиксированной даты окончания</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Требования уже чётко и полностью определены и не будут меняться</a:t>
            </a:r>
            <a:endParaRPr sz="1500">
              <a:highlight>
                <a:schemeClr val="lt1"/>
              </a:highlight>
            </a:endParaRPr>
          </a:p>
          <a:p>
            <a:pPr indent="-323850" lvl="0" marL="457200" rtl="0" algn="l">
              <a:spcBef>
                <a:spcPts val="0"/>
              </a:spcBef>
              <a:spcAft>
                <a:spcPts val="0"/>
              </a:spcAft>
              <a:buSzPts val="1500"/>
              <a:buChar char="●"/>
            </a:pPr>
            <a:r>
              <a:rPr lang="en" sz="1500">
                <a:highlight>
                  <a:schemeClr val="lt1"/>
                </a:highlight>
              </a:rPr>
              <a:t>Команда не может регулярно встречаться и тесно сотрудничать</a:t>
            </a:r>
            <a:endParaRPr sz="1500">
              <a:highlight>
                <a:schemeClr val="lt1"/>
              </a:highlight>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Источники</a:t>
            </a:r>
            <a:endParaRPr/>
          </a:p>
        </p:txBody>
      </p:sp>
      <p:sp>
        <p:nvSpPr>
          <p:cNvPr id="117" name="Google Shape;117;p2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http://www.codeproject.com/Articles/5097/What-Is-DSDM</a:t>
            </a:r>
            <a:endParaRPr/>
          </a:p>
          <a:p>
            <a:pPr indent="0" lvl="0" marL="0" rtl="0" algn="l">
              <a:spcBef>
                <a:spcPts val="1600"/>
              </a:spcBef>
              <a:spcAft>
                <a:spcPts val="0"/>
              </a:spcAft>
              <a:buNone/>
            </a:pPr>
            <a:r>
              <a:rPr lang="en" u="sng">
                <a:solidFill>
                  <a:schemeClr val="hlink"/>
                </a:solidFill>
                <a:hlinkClick r:id="rId4"/>
              </a:rPr>
              <a:t>http://www.slideshare.net/bilalhashmishah/dsdm-12836937</a:t>
            </a:r>
            <a:endParaRPr/>
          </a:p>
          <a:p>
            <a:pPr indent="0" lvl="0" marL="0" rtl="0" algn="l">
              <a:spcBef>
                <a:spcPts val="1600"/>
              </a:spcBef>
              <a:spcAft>
                <a:spcPts val="0"/>
              </a:spcAft>
              <a:buNone/>
            </a:pPr>
            <a:r>
              <a:rPr lang="en" u="sng">
                <a:solidFill>
                  <a:schemeClr val="hlink"/>
                </a:solidFill>
                <a:hlinkClick r:id="rId5"/>
              </a:rPr>
              <a:t>http://www.dsdm.org/content/what-dsdm</a:t>
            </a:r>
            <a:r>
              <a:rPr lang="en"/>
              <a:t> </a:t>
            </a:r>
            <a:endParaRPr/>
          </a:p>
          <a:p>
            <a:pPr indent="0" lvl="0" marL="0" rtl="0" algn="l">
              <a:spcBef>
                <a:spcPts val="1600"/>
              </a:spcBef>
              <a:spcAft>
                <a:spcPts val="0"/>
              </a:spcAft>
              <a:buNone/>
            </a:pPr>
            <a:r>
              <a:rPr lang="en" u="sng">
                <a:solidFill>
                  <a:schemeClr val="hlink"/>
                </a:solidFill>
                <a:hlinkClick r:id="rId6"/>
              </a:rPr>
              <a:t>http://www.dsdm.org/content/history-dsdm</a:t>
            </a:r>
            <a:r>
              <a:rPr lang="en"/>
              <a:t> </a:t>
            </a:r>
            <a:endParaRPr/>
          </a:p>
          <a:p>
            <a:pPr indent="0" lvl="0" marL="0" rtl="0" algn="l">
              <a:spcBef>
                <a:spcPts val="1600"/>
              </a:spcBef>
              <a:spcAft>
                <a:spcPts val="0"/>
              </a:spcAft>
              <a:buNone/>
            </a:pPr>
            <a:r>
              <a:rPr lang="en" u="sng">
                <a:solidFill>
                  <a:schemeClr val="hlink"/>
                </a:solidFill>
                <a:hlinkClick r:id="rId7"/>
              </a:rPr>
              <a:t>http://www.agilexp.com/presentations/DSDMexplained.pdf</a:t>
            </a:r>
            <a:r>
              <a:rPr lang="en"/>
              <a:t>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