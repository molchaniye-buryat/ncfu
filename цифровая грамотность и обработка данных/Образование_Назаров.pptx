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3" r:id="rId6"/>
    <p:sldId id="264" r:id="rId7"/>
    <p:sldId id="265" r:id="rId8"/>
    <p:sldId id="266" r:id="rId9"/>
    <p:sldId id="262" r:id="rId10"/>
    <p:sldId id="257" r:id="rId11"/>
    <p:sldId id="259" r:id="rId12"/>
    <p:sldId id="261" r:id="rId13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84328" autoAdjust="0"/>
  </p:normalViewPr>
  <p:slideViewPr>
    <p:cSldViewPr snapToGrid="0">
      <p:cViewPr varScale="1">
        <p:scale>
          <a:sx n="73" d="100"/>
          <a:sy n="73" d="100"/>
        </p:scale>
        <p:origin x="96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2404B17-5E12-4800-93A2-50B4BCF228EF}" type="datetime1">
              <a:rPr lang="ru-RU" smtClean="0"/>
              <a:t>13.02.2026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BD65BC62-3B36-43F8-8B69-D6E5E743DA3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EF24DFF5-B7B6-4D25-962D-EB07A7CAEC05}" type="datetime1">
              <a:rPr lang="ru-RU" smtClean="0"/>
              <a:pPr/>
              <a:t>13.02.2026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6AEB063-7F11-4E3B-BA52-07405B1C2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Заголовок должен быть конкретным и недвусмысленным. Используйте подзаголовок, чтобы уточнить контекст речи.</a:t>
            </a:r>
          </a:p>
          <a:p>
            <a:pPr rtl="0"/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Цель — привлечь внимание аудитории с помощью цитаты, впечатляющей статистики или факта.  Необязательно привлекать внимание именно к слайду.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помощью фоновых пунктов можно публиковать сведения, не относящиеся к широко известным или к тем, которые аудитория должна будет понять в контексте доклада.</a:t>
            </a:r>
          </a:p>
          <a:p>
            <a:pPr rtl="0"/>
            <a:r>
              <a:rPr lang="ru-RU" dirty="0"/>
              <a:t>– Не читайте эти основные пункты прямо из PowerPoint, а раскрывайте их значение во время доклада.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240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Посвятите весь этот слайд тезисному утверждению.  Это причина, по которой вы выступаете с докладом.  Используйте это время, чтобы раскрыть три основных пункта речи (слайды 4, 5 и 6) в качестве общей информации для направления доклада:</a:t>
            </a:r>
          </a:p>
          <a:p>
            <a:pPr rtl="0"/>
            <a:r>
              <a:rPr lang="ru-RU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[введите здесь основной пункт № 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r>
              <a:rPr lang="ru-RU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[введите здесь основной пункт № 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r>
              <a:rPr lang="ru-RU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[введите здесь основной пункт № 3]</a:t>
            </a:r>
          </a:p>
          <a:p>
            <a:pPr rtl="0"/>
            <a:r>
              <a:rPr lang="ru-RU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Обязательно должен быть переход к первому основному пункту и следующему слайду.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8027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Заголовок основного пункта № 1 должен быть четким и лаконичным.  Каждый фрагмент обоснования должен быть представлен в сводном виде для четкости понимания и правильности цитирования.  Не нужно просто читать фрагменты обоснования. При необходимости их следует развить.  </a:t>
            </a:r>
          </a:p>
          <a:p>
            <a:pPr rtl="0"/>
            <a:r>
              <a:rPr lang="ru-RU" dirty="0"/>
              <a:t>[введите заметки для развития мысли]</a:t>
            </a:r>
          </a:p>
          <a:p>
            <a:pPr rtl="0"/>
            <a:r>
              <a:rPr lang="ru-RU" dirty="0"/>
              <a:t>Обязательно должен быть переход ко второму основному пункту и следующему слайду.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9452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1" name="Полилиния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 rtlCol="0"/>
          <a:lstStyle>
            <a:lvl1pPr algn="ctr">
              <a:defRPr lang="ru-RU" sz="54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ADA0615-70B1-47A3-9B80-0B3D53813ACA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278A30-570D-4D77-864D-6054B3DD65A1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содержимое раздел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rtlCol="0" anchor="ctr" anchorCtr="0"/>
          <a:lstStyle>
            <a:lvl1pPr algn="ctr">
              <a:defRPr lang="ru-RU" sz="4800" b="0" cap="none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948F317B-4809-4CA9-8BD5-24D36E938FB1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 rtlCol="0"/>
          <a:lstStyle>
            <a:lvl1pPr algn="l"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Объект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rtlCol="0" anchor="t" anchorCtr="0">
            <a:normAutofit/>
          </a:bodyPr>
          <a:lstStyle>
            <a:lvl1pPr>
              <a:defRPr lang="ru-RU" sz="2800"/>
            </a:lvl1pPr>
            <a:lvl2pPr>
              <a:defRPr lang="ru-RU" sz="2400"/>
            </a:lvl2pPr>
            <a:lvl3pPr>
              <a:defRPr lang="ru-RU" sz="20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7907EFC3-5031-4BA5-AE02-8B0C573CA70E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 rtlCol="0"/>
          <a:lstStyle>
            <a:lvl1pPr algn="l"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1514" y="451513"/>
            <a:ext cx="5553071" cy="5409537"/>
          </a:xfrm>
        </p:spPr>
        <p:txBody>
          <a:bodyPr rtlCol="0" anchor="t" anchorCtr="0">
            <a:normAutofit/>
          </a:bodyPr>
          <a:lstStyle>
            <a:lvl1pPr>
              <a:defRPr lang="ru-RU" sz="2800"/>
            </a:lvl1pPr>
            <a:lvl2pPr>
              <a:defRPr lang="ru-RU" sz="2800"/>
            </a:lvl2pPr>
            <a:lvl3pPr>
              <a:defRPr lang="ru-RU" sz="2800"/>
            </a:lvl3pPr>
            <a:lvl4pPr>
              <a:defRPr lang="ru-RU" sz="2800"/>
            </a:lvl4pPr>
            <a:lvl5pPr>
              <a:defRPr lang="ru-RU" sz="2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121111D-A93E-43D7-ACD6-1B38644F1B3B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>
            <a:lvl1pPr marL="0" indent="0" algn="ctr">
              <a:buNone/>
              <a:defRPr lang="ru-RU" sz="32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rtlCol="0" anchor="b">
            <a:normAutofit/>
          </a:bodyPr>
          <a:lstStyle>
            <a:lvl1pPr algn="l">
              <a:defRPr lang="ru-RU"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24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CFE7142-E8A3-4F46-BB87-FB3D88F146CD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 — 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10001" y="2222287"/>
            <a:ext cx="10571998" cy="3638764"/>
          </a:xfrm>
        </p:spPr>
        <p:txBody>
          <a:bodyPr rtlCol="0">
            <a:normAutofit/>
          </a:bodyPr>
          <a:lstStyle>
            <a:lvl1pPr>
              <a:defRPr lang="ru-RU" sz="2800"/>
            </a:lvl1pPr>
            <a:lvl2pPr>
              <a:defRPr lang="ru-RU" sz="2800"/>
            </a:lvl2pPr>
            <a:lvl3pPr>
              <a:defRPr lang="ru-RU" sz="2800"/>
            </a:lvl3pPr>
            <a:lvl4pPr>
              <a:defRPr lang="ru-RU" sz="2800"/>
            </a:lvl4pPr>
            <a:lvl5pPr>
              <a:defRPr lang="ru-RU" sz="2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FD4E8AA-675A-456D-83EF-0B034B798201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rtlCol="0" anchor="ctr" anchorCtr="0">
            <a:normAutofit/>
          </a:bodyPr>
          <a:lstStyle>
            <a:lvl1pPr algn="ctr">
              <a:defRPr lang="ru-RU"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FD48859-0224-42B7-A551-986EE7070A68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9C47BBC-124B-4354-BA9F-697A36A79431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rtlCol="0" anchor="ctr" anchorCtr="0"/>
          <a:lstStyle>
            <a:lvl1pPr algn="ctr">
              <a:defRPr lang="ru-RU" sz="4800" b="0" cap="none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rtlCol="0" anchor="ctr" anchorCtr="0">
            <a:noAutofit/>
          </a:bodyPr>
          <a:lstStyle>
            <a:lvl1pPr marL="0" indent="0" algn="r">
              <a:buNone/>
              <a:defRPr lang="ru-RU" sz="2800">
                <a:solidFill>
                  <a:schemeClr val="tx1"/>
                </a:solidFill>
              </a:defRPr>
            </a:lvl1pPr>
            <a:lvl2pPr marL="4572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E7E2490-00F7-40A0-AE9A-35519406E8CA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lang="ru-RU" sz="2000" b="0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rtlCol="0" anchor="t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lang="ru-RU" sz="2000" b="0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rtlCol="0" anchor="t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2122F47-1781-411F-97F2-7DB4D0E6E3F6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CFD6A85-E3E0-4E77-A4D4-FB7BC6459629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D592D33-A9D9-4DB5-BF3A-9FDA0DA8938B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rtlCol="0" anchor="ctr" anchorCtr="0"/>
          <a:lstStyle>
            <a:lvl1pPr algn="l">
              <a:defRPr lang="ru-RU" sz="40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 rtlCol="0">
            <a:normAutofit/>
          </a:bodyPr>
          <a:lstStyle>
            <a:lvl1pPr marL="0" indent="0">
              <a:buNone/>
              <a:defRPr lang="ru-RU" sz="2800"/>
            </a:lvl1pPr>
            <a:lvl2pPr marL="457200" indent="0">
              <a:buNone/>
              <a:defRPr lang="ru-RU" sz="1200"/>
            </a:lvl2pPr>
            <a:lvl3pPr marL="914400" indent="0">
              <a:buNone/>
              <a:defRPr lang="ru-RU" sz="1000"/>
            </a:lvl3pPr>
            <a:lvl4pPr marL="1371600" indent="0">
              <a:buNone/>
              <a:defRPr lang="ru-RU" sz="900"/>
            </a:lvl4pPr>
            <a:lvl5pPr marL="1828800" indent="0">
              <a:buNone/>
              <a:defRPr lang="ru-RU" sz="900"/>
            </a:lvl5pPr>
            <a:lvl6pPr marL="2286000" indent="0">
              <a:buNone/>
              <a:defRPr lang="ru-RU" sz="900"/>
            </a:lvl6pPr>
            <a:lvl7pPr marL="2743200" indent="0">
              <a:buNone/>
              <a:defRPr lang="ru-RU" sz="900"/>
            </a:lvl7pPr>
            <a:lvl8pPr marL="3200400" indent="0">
              <a:buNone/>
              <a:defRPr lang="ru-RU" sz="900"/>
            </a:lvl8pPr>
            <a:lvl9pPr marL="3657600" indent="0">
              <a:buNone/>
              <a:defRPr lang="ru-RU"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154350D-3D52-46BD-88C5-9C3847FB31F5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rtlCol="0" anchor="ctr" anchorCtr="0"/>
          <a:lstStyle>
            <a:lvl1pPr algn="l">
              <a:defRPr lang="ru-RU" sz="40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rtlCol="0" anchor="t">
            <a:noAutofit/>
          </a:bodyPr>
          <a:lstStyle>
            <a:lvl1pPr marL="0" indent="0" algn="l">
              <a:buNone/>
              <a:defRPr lang="ru-RU" sz="1800">
                <a:solidFill>
                  <a:schemeClr val="tx1"/>
                </a:solidFill>
              </a:defRPr>
            </a:lvl1pPr>
            <a:lvl2pPr marL="4572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9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rtlCol="0" anchor="t" anchorCtr="0">
            <a:normAutofit/>
          </a:bodyPr>
          <a:lstStyle>
            <a:lvl1pPr marL="0" indent="0" algn="l">
              <a:buFontTx/>
              <a:buNone/>
              <a:defRPr lang="ru-RU" sz="2800"/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AACFC17-7D26-4653-8D99-258018512918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с имен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Заголовок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rtlCol="0" anchor="ctr" anchorCtr="0"/>
          <a:lstStyle>
            <a:lvl1pPr algn="l">
              <a:defRPr lang="ru-RU" sz="40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rtlCol="0" anchor="ctr" anchorCtr="0">
            <a:normAutofit/>
          </a:bodyPr>
          <a:lstStyle>
            <a:lvl1pPr marL="0" indent="0" algn="ctr">
              <a:buFontTx/>
              <a:buNone/>
              <a:defRPr lang="ru-RU" sz="2800"/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A6F7F65-D2BC-4359-AEFE-9BBD69ABC510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rtlCol="0" anchor="ctr" anchorCtr="1"/>
          <a:lstStyle>
            <a:lvl1pPr algn="l">
              <a:defRPr lang="ru-RU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rtlCol="0" anchor="ctr" anchorCtr="1"/>
          <a:lstStyle>
            <a:lvl1pPr algn="ctr">
              <a:defRPr lang="ru-RU"/>
            </a:lvl1pPr>
            <a:lvl2pPr algn="ctr">
              <a:defRPr lang="ru-RU"/>
            </a:lvl2pPr>
            <a:lvl3pPr algn="ctr">
              <a:defRPr lang="ru-RU"/>
            </a:lvl3pPr>
            <a:lvl4pPr algn="ctr">
              <a:defRPr lang="ru-RU"/>
            </a:lvl4pPr>
            <a:lvl5pPr algn="ctr">
              <a:defRPr lang="ru-RU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135333A-6508-4654-9F14-15A9CDEB00C3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9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900">
                <a:solidFill>
                  <a:schemeClr val="tx1"/>
                </a:solidFill>
              </a:defRPr>
            </a:lvl1pPr>
          </a:lstStyle>
          <a:p>
            <a:pPr rtl="0"/>
            <a:fld id="{002A82A3-50A6-450E-91E5-E33E2A20B642}" type="datetime1">
              <a:rPr lang="ru-RU" noProof="0" smtClean="0"/>
              <a:t>13.02.2026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lang="ru-RU" sz="2000">
                <a:solidFill>
                  <a:schemeClr val="accent1"/>
                </a:solidFill>
              </a:defRPr>
            </a:lvl1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lang="ru-RU"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ru-RU">
          <a:solidFill>
            <a:schemeClr val="tx2"/>
          </a:solidFill>
        </a:defRPr>
      </a:lvl2pPr>
      <a:lvl3pPr eaLnBrk="1" hangingPunct="1">
        <a:defRPr lang="ru-RU">
          <a:solidFill>
            <a:schemeClr val="tx2"/>
          </a:solidFill>
        </a:defRPr>
      </a:lvl3pPr>
      <a:lvl4pPr eaLnBrk="1" hangingPunct="1">
        <a:defRPr lang="ru-RU">
          <a:solidFill>
            <a:schemeClr val="tx2"/>
          </a:solidFill>
        </a:defRPr>
      </a:lvl4pPr>
      <a:lvl5pPr eaLnBrk="1" hangingPunct="1">
        <a:defRPr lang="ru-RU">
          <a:solidFill>
            <a:schemeClr val="tx2"/>
          </a:solidFill>
        </a:defRPr>
      </a:lvl5pPr>
      <a:lvl6pPr eaLnBrk="1" hangingPunct="1">
        <a:defRPr lang="ru-RU">
          <a:solidFill>
            <a:schemeClr val="tx2"/>
          </a:solidFill>
        </a:defRPr>
      </a:lvl6pPr>
      <a:lvl7pPr eaLnBrk="1" hangingPunct="1">
        <a:defRPr lang="ru-RU">
          <a:solidFill>
            <a:schemeClr val="tx2"/>
          </a:solidFill>
        </a:defRPr>
      </a:lvl7pPr>
      <a:lvl8pPr eaLnBrk="1" hangingPunct="1">
        <a:defRPr lang="ru-RU">
          <a:solidFill>
            <a:schemeClr val="tx2"/>
          </a:solidFill>
        </a:defRPr>
      </a:lvl8pPr>
      <a:lvl9pPr eaLnBrk="1" hangingPunct="1">
        <a:defRPr lang="ru-RU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b="0" dirty="0"/>
              <a:t>Цифровая Грамотность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E5DACC-1D74-41AD-B036-C015472B9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rtl="0"/>
            <a:r>
              <a:rPr lang="ru-RU" sz="2400" dirty="0"/>
              <a:t>Назаров Глеб ИНС-б-о-25-1</a:t>
            </a:r>
          </a:p>
        </p:txBody>
      </p:sp>
      <p:sp>
        <p:nvSpPr>
          <p:cNvPr id="6" name="Надпись 5">
            <a:extLst>
              <a:ext uri="{FF2B5EF4-FFF2-40B4-BE49-F238E27FC236}">
                <a16:creationId xmlns:a16="http://schemas.microsoft.com/office/drawing/2014/main" id="{84D618E2-C3E2-4721-A4CA-1E9208B1959E}"/>
              </a:ext>
            </a:extLst>
          </p:cNvPr>
          <p:cNvSpPr txBox="1"/>
          <p:nvPr/>
        </p:nvSpPr>
        <p:spPr>
          <a:xfrm>
            <a:off x="8767355" y="360063"/>
            <a:ext cx="3019646" cy="738664"/>
          </a:xfrm>
          <a:prstGeom prst="rect">
            <a:avLst/>
          </a:prstGeom>
          <a:solidFill>
            <a:schemeClr val="tx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</a:lstStyle>
          <a:p>
            <a:pPr algn="ctr" rtl="0"/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Совет. Используйте изображения, чтобы задать тон речи.</a:t>
            </a:r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93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89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37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accent4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400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034A4-7019-4056-9EF9-F2B90851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74EE03-7EA3-404E-868B-A7B490F77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A55657-2B15-45BD-9AC0-539394DAE6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62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236178"/>
            <a:ext cx="7440620" cy="13816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3600" dirty="0"/>
              <a:t>Заголовок убедительной речи</a:t>
            </a:r>
            <a:br>
              <a:rPr lang="ru-RU" sz="3600" dirty="0"/>
            </a:br>
            <a:r>
              <a:rPr lang="ru-RU" sz="2400" dirty="0"/>
              <a:t>[Используйте точный заголовок титульного слайда.]</a:t>
            </a:r>
            <a:endParaRPr lang="ru-RU" sz="3600" dirty="0"/>
          </a:p>
        </p:txBody>
      </p:sp>
      <p:sp>
        <p:nvSpPr>
          <p:cNvPr id="5" name="Надпись 4">
            <a:extLst>
              <a:ext uri="{FF2B5EF4-FFF2-40B4-BE49-F238E27FC236}">
                <a16:creationId xmlns:a16="http://schemas.microsoft.com/office/drawing/2014/main" id="{36C149F5-9C9E-44C4-8804-58C9DD6E0E55}"/>
              </a:ext>
            </a:extLst>
          </p:cNvPr>
          <p:cNvSpPr txBox="1"/>
          <p:nvPr/>
        </p:nvSpPr>
        <p:spPr>
          <a:xfrm>
            <a:off x="8250620" y="393804"/>
            <a:ext cx="3728792" cy="1169551"/>
          </a:xfrm>
          <a:prstGeom prst="rect">
            <a:avLst/>
          </a:prstGeom>
          <a:solidFill>
            <a:schemeClr val="tx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</a:lstStyle>
          <a:p>
            <a:pPr algn="ctr" rtl="0"/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Совет. Детали фона должны быть лаконичными. Аудитория не сосредоточится на докладе и материалах PowerPoint, если текста будет слишком много.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09625" y="2222500"/>
            <a:ext cx="5186363" cy="3638550"/>
          </a:xfrm>
        </p:spPr>
        <p:txBody>
          <a:bodyPr rtlCol="0"/>
          <a:lstStyle>
            <a:defPPr>
              <a:defRPr lang="ru-RU"/>
            </a:defPPr>
          </a:lstStyle>
          <a:p>
            <a:pPr marL="0" indent="0" rtl="0">
              <a:buNone/>
            </a:pPr>
            <a:r>
              <a:rPr lang="ru-RU"/>
              <a:t>Общие сведения</a:t>
            </a:r>
          </a:p>
          <a:p>
            <a:pPr rtl="0"/>
            <a:r>
              <a:rPr lang="ru-RU"/>
              <a:t>[введите здесь сведения № 1]</a:t>
            </a:r>
          </a:p>
          <a:p>
            <a:pPr rtl="0"/>
            <a:r>
              <a:rPr lang="ru-RU"/>
              <a:t>[введите здесь сведения № 2]</a:t>
            </a:r>
          </a:p>
          <a:p>
            <a:pPr rtl="0"/>
            <a:r>
              <a:rPr lang="ru-RU"/>
              <a:t>[введите здесь сведения № 3]</a:t>
            </a:r>
          </a:p>
          <a:p>
            <a:pPr rtl="0"/>
            <a:r>
              <a:rPr lang="ru-RU"/>
              <a:t>[введите здесь сведения № 4]</a:t>
            </a:r>
          </a:p>
          <a:p>
            <a:pPr rtl="0"/>
            <a:r>
              <a:rPr lang="ru-RU"/>
              <a:t>[введите здесь сведения № 5]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EAEB45-73DA-4942-9673-8B5F64D726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  <a:p>
            <a:pPr rtl="0"/>
            <a:r>
              <a:rPr lang="ru-RU"/>
              <a:t>[Поместите здесь изображение, которое лучше всего иллюстрирует главную идею речи]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04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дпись 2">
            <a:extLst>
              <a:ext uri="{FF2B5EF4-FFF2-40B4-BE49-F238E27FC236}">
                <a16:creationId xmlns:a16="http://schemas.microsoft.com/office/drawing/2014/main" id="{527240B3-8BFF-4F4A-AFA2-52E66F2680F1}"/>
              </a:ext>
            </a:extLst>
          </p:cNvPr>
          <p:cNvSpPr txBox="1"/>
          <p:nvPr/>
        </p:nvSpPr>
        <p:spPr>
          <a:xfrm>
            <a:off x="7360032" y="311847"/>
            <a:ext cx="4537679" cy="1169551"/>
          </a:xfrm>
          <a:prstGeom prst="rect">
            <a:avLst/>
          </a:prstGeom>
          <a:solidFill>
            <a:schemeClr val="tx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</a:lstStyle>
          <a:p>
            <a:pPr algn="ctr" rtl="0"/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Совет. Тезис должен быть набран четким полужирным шрифтом.  Используйте впечатляющие изображения в качестве фона или для акцентирования внимания, чтобы усилить тезисное утверждение.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65665-583F-4DD8-814D-FECA92009E9A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4000"/>
              <a:t>[Введите здесь тезисное утверждение]</a:t>
            </a:r>
          </a:p>
        </p:txBody>
      </p:sp>
    </p:spTree>
    <p:extLst>
      <p:ext uri="{BB962C8B-B14F-4D97-AF65-F5344CB8AC3E}">
        <p14:creationId xmlns:p14="http://schemas.microsoft.com/office/powerpoint/2010/main" val="386909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16498D-2480-4101-BEA1-C2190270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3600" dirty="0"/>
              <a:t>[Введите здесь основной пункт № 1]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CF0C0B-47F1-464B-88EF-B198966347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indent="0" algn="ctr" rtl="0">
              <a:buNone/>
            </a:pPr>
            <a:r>
              <a:rPr lang="ru-RU"/>
              <a:t>[поместите здесь изображение, которое лучше всего иллюстрирует главную идею пункта № 1]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53A980-ADD3-49DF-ACFE-8E50E3F2ABC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6099" y="879566"/>
            <a:ext cx="5186363" cy="498148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2000" dirty="0"/>
              <a:t>[Введите доказательство поддержки основного пункта № 1]</a:t>
            </a:r>
          </a:p>
          <a:p>
            <a:pPr rtl="0"/>
            <a:r>
              <a:rPr lang="ru-RU" sz="2000" dirty="0"/>
              <a:t>[Введите доказательство поддержки основного пункта № 1]</a:t>
            </a:r>
          </a:p>
          <a:p>
            <a:pPr rtl="0"/>
            <a:r>
              <a:rPr lang="ru-RU" sz="2000" dirty="0"/>
              <a:t>[Введите доказательство поддержки основного пункта № 1]</a:t>
            </a:r>
          </a:p>
          <a:p>
            <a:pPr rtl="0"/>
            <a:r>
              <a:rPr lang="ru-RU" sz="2000" dirty="0"/>
              <a:t>[Введите доказательство поддержки основного пункта № 1]</a:t>
            </a:r>
          </a:p>
        </p:txBody>
      </p:sp>
      <p:sp>
        <p:nvSpPr>
          <p:cNvPr id="5" name="Надпись 4">
            <a:extLst>
              <a:ext uri="{FF2B5EF4-FFF2-40B4-BE49-F238E27FC236}">
                <a16:creationId xmlns:a16="http://schemas.microsoft.com/office/drawing/2014/main" id="{3614D49E-5F09-430D-A437-7D77CC85DC17}"/>
              </a:ext>
            </a:extLst>
          </p:cNvPr>
          <p:cNvSpPr txBox="1"/>
          <p:nvPr/>
        </p:nvSpPr>
        <p:spPr>
          <a:xfrm>
            <a:off x="6515774" y="4691498"/>
            <a:ext cx="5179386" cy="1169551"/>
          </a:xfrm>
          <a:prstGeom prst="rect">
            <a:avLst/>
          </a:prstGeom>
          <a:solidFill>
            <a:schemeClr val="tx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</a:lstStyle>
          <a:p>
            <a:pPr algn="ctr" rtl="0"/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Совет. Гарнитура и кегль шрифта, используемого в презентации PowerPoint, должны быть такими, чтобы текст был крупным, а аудитория могла легко его прочесть. Не забывайте учитывать расстояние между аудиторией и экраном для презентации.</a:t>
            </a:r>
          </a:p>
        </p:txBody>
      </p:sp>
    </p:spTree>
    <p:extLst>
      <p:ext uri="{BB962C8B-B14F-4D97-AF65-F5344CB8AC3E}">
        <p14:creationId xmlns:p14="http://schemas.microsoft.com/office/powerpoint/2010/main" val="38955839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3585703_TF45182065_Win32" id="{81E9B72E-6278-48C4-8F23-0E85C9AB8A23}" vid="{39E52162-5218-4605-B2A1-FA81506DEB4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8413E5-0484-489B-B293-D8720B6027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19B3EA6-E2E1-4B68-B700-9432F9FC79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EDC914-E79E-4731-88EB-C290A6D4D6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Структура убедительной речи </Template>
  <TotalTime>3</TotalTime>
  <Words>455</Words>
  <Application>Microsoft Office PowerPoint</Application>
  <PresentationFormat>Широкоэкранный</PresentationFormat>
  <Paragraphs>38</Paragraphs>
  <Slides>9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</vt:lpstr>
      <vt:lpstr>Century Gothic</vt:lpstr>
      <vt:lpstr>Tahoma</vt:lpstr>
      <vt:lpstr>Wingdings 2</vt:lpstr>
      <vt:lpstr>Цитаты</vt:lpstr>
      <vt:lpstr>Цифровая Грамотность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Заголовок убедительной речи [Используйте точный заголовок титульного слайда.]</vt:lpstr>
      <vt:lpstr>[Введите здесь тезисное утверждение]</vt:lpstr>
      <vt:lpstr>[Введите здесь основной пункт № 1]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Цифровая Грамотность</dc:title>
  <dc:creator>play steen</dc:creator>
  <cp:lastModifiedBy>play steen</cp:lastModifiedBy>
  <cp:revision>2</cp:revision>
  <dcterms:created xsi:type="dcterms:W3CDTF">2026-02-13T06:27:28Z</dcterms:created>
  <dcterms:modified xsi:type="dcterms:W3CDTF">2026-02-13T06:37:01Z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