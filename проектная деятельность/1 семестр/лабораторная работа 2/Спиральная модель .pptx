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909975" y="2529800"/>
            <a:ext cx="1101000" cy="806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Внедрение и сопровождение</a:t>
            </a:r>
            <a:endParaRPr sz="1200"/>
          </a:p>
        </p:txBody>
      </p:sp>
      <p:sp>
        <p:nvSpPr>
          <p:cNvPr id="55" name="Google Shape;55;p13"/>
          <p:cNvSpPr/>
          <p:nvPr/>
        </p:nvSpPr>
        <p:spPr>
          <a:xfrm>
            <a:off x="4021500" y="3336500"/>
            <a:ext cx="1101000" cy="806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Разработка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(2-й виток)</a:t>
            </a:r>
            <a:endParaRPr sz="1300"/>
          </a:p>
        </p:txBody>
      </p:sp>
      <p:sp>
        <p:nvSpPr>
          <p:cNvPr id="56" name="Google Shape;56;p13"/>
          <p:cNvSpPr/>
          <p:nvPr/>
        </p:nvSpPr>
        <p:spPr>
          <a:xfrm>
            <a:off x="2133025" y="1340900"/>
            <a:ext cx="1101000" cy="806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Разработка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(1-й виток)</a:t>
            </a:r>
            <a:endParaRPr sz="1300"/>
          </a:p>
        </p:txBody>
      </p:sp>
      <p:sp>
        <p:nvSpPr>
          <p:cNvPr id="57" name="Google Shape;57;p13"/>
          <p:cNvSpPr/>
          <p:nvPr/>
        </p:nvSpPr>
        <p:spPr>
          <a:xfrm>
            <a:off x="2133025" y="2529800"/>
            <a:ext cx="1101000" cy="806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Тестирование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4021500" y="534200"/>
            <a:ext cx="1101000" cy="806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П</a:t>
            </a:r>
            <a:r>
              <a:rPr lang="ru" sz="1100"/>
              <a:t>роектирова-ние</a:t>
            </a:r>
            <a:endParaRPr sz="1100"/>
          </a:p>
        </p:txBody>
      </p:sp>
      <p:sp>
        <p:nvSpPr>
          <p:cNvPr id="59" name="Google Shape;59;p13"/>
          <p:cNvSpPr/>
          <p:nvPr/>
        </p:nvSpPr>
        <p:spPr>
          <a:xfrm>
            <a:off x="5909975" y="1340900"/>
            <a:ext cx="1101000" cy="806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Анализ требований</a:t>
            </a:r>
            <a:endParaRPr sz="1300"/>
          </a:p>
        </p:txBody>
      </p:sp>
      <p:cxnSp>
        <p:nvCxnSpPr>
          <p:cNvPr id="60" name="Google Shape;60;p13"/>
          <p:cNvCxnSpPr>
            <a:stCxn id="55" idx="3"/>
            <a:endCxn id="54" idx="2"/>
          </p:cNvCxnSpPr>
          <p:nvPr/>
        </p:nvCxnSpPr>
        <p:spPr>
          <a:xfrm flipH="1" rot="10800000">
            <a:off x="5122500" y="3336350"/>
            <a:ext cx="1338000" cy="403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3"/>
          <p:cNvCxnSpPr>
            <a:stCxn id="54" idx="3"/>
            <a:endCxn id="59" idx="3"/>
          </p:cNvCxnSpPr>
          <p:nvPr/>
        </p:nvCxnSpPr>
        <p:spPr>
          <a:xfrm flipH="1" rot="10800000">
            <a:off x="7010975" y="1744250"/>
            <a:ext cx="600" cy="11889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>
            <a:stCxn id="59" idx="0"/>
            <a:endCxn id="58" idx="3"/>
          </p:cNvCxnSpPr>
          <p:nvPr/>
        </p:nvCxnSpPr>
        <p:spPr>
          <a:xfrm flipH="1" rot="5400000">
            <a:off x="5589725" y="470150"/>
            <a:ext cx="403500" cy="13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>
            <a:stCxn id="58" idx="1"/>
            <a:endCxn id="56" idx="0"/>
          </p:cNvCxnSpPr>
          <p:nvPr/>
        </p:nvCxnSpPr>
        <p:spPr>
          <a:xfrm flipH="1">
            <a:off x="2683500" y="937550"/>
            <a:ext cx="1338000" cy="403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>
            <a:stCxn id="56" idx="1"/>
            <a:endCxn id="57" idx="1"/>
          </p:cNvCxnSpPr>
          <p:nvPr/>
        </p:nvCxnSpPr>
        <p:spPr>
          <a:xfrm>
            <a:off x="2133025" y="1744250"/>
            <a:ext cx="600" cy="1188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>
            <a:stCxn id="57" idx="2"/>
            <a:endCxn id="55" idx="1"/>
          </p:cNvCxnSpPr>
          <p:nvPr/>
        </p:nvCxnSpPr>
        <p:spPr>
          <a:xfrm flipH="1" rot="-5400000">
            <a:off x="3150775" y="2869250"/>
            <a:ext cx="403500" cy="13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/>
          <p:nvPr/>
        </p:nvCxnSpPr>
        <p:spPr>
          <a:xfrm>
            <a:off x="1580025" y="2336425"/>
            <a:ext cx="6824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3"/>
          <p:cNvSpPr txBox="1"/>
          <p:nvPr/>
        </p:nvSpPr>
        <p:spPr>
          <a:xfrm>
            <a:off x="7249100" y="1836613"/>
            <a:ext cx="2050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линия принятия решения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(формирование требований)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