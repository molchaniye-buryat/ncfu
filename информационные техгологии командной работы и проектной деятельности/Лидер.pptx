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1"/>
  </p:notesMasterIdLst>
  <p:sldIdLst>
    <p:sldId id="256" r:id="rId2"/>
    <p:sldId id="257" r:id="rId3"/>
    <p:sldId id="261" r:id="rId4"/>
    <p:sldId id="258" r:id="rId5"/>
    <p:sldId id="265" r:id="rId6"/>
    <p:sldId id="259" r:id="rId7"/>
    <p:sldId id="269" r:id="rId8"/>
    <p:sldId id="260" r:id="rId9"/>
    <p:sldId id="262" r:id="rId10"/>
  </p:sldIdLst>
  <p:sldSz cx="18288000" cy="102870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DM Serif Display" pitchFamily="2" charset="0"/>
      <p:regular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429000" y="4598900"/>
            <a:ext cx="11457000" cy="1633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82400" y="2238925"/>
            <a:ext cx="16418700" cy="714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Char char="•"/>
              <a:defRPr sz="10400"/>
            </a:lvl1pPr>
            <a:lvl2pPr marL="914400" lvl="1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–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L="1371600" lvl="2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•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L="1828800" lvl="3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–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L="2286000" lvl="4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»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L="2743200" lvl="5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•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L="3200400" lvl="6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•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L="3657600" lvl="7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•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L="4114800" lvl="8" indent="-88900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0400"/>
              <a:buFont typeface="DM Serif Display"/>
              <a:buChar char="•"/>
              <a:defRPr sz="104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>
            <a:spLocks noGrp="1"/>
          </p:cNvSpPr>
          <p:nvPr>
            <p:ph type="pic" idx="2"/>
          </p:nvPr>
        </p:nvSpPr>
        <p:spPr>
          <a:xfrm>
            <a:off x="-175" y="0"/>
            <a:ext cx="6757200" cy="10287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5906725" y="1032300"/>
            <a:ext cx="5560800" cy="31614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6"/>
          <p:cNvSpPr>
            <a:spLocks noGrp="1"/>
          </p:cNvSpPr>
          <p:nvPr>
            <p:ph type="pic" idx="3"/>
          </p:nvPr>
        </p:nvSpPr>
        <p:spPr>
          <a:xfrm>
            <a:off x="12365925" y="1032300"/>
            <a:ext cx="5560800" cy="31614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6"/>
          <p:cNvSpPr>
            <a:spLocks noGrp="1"/>
          </p:cNvSpPr>
          <p:nvPr>
            <p:ph type="pic" idx="4"/>
          </p:nvPr>
        </p:nvSpPr>
        <p:spPr>
          <a:xfrm>
            <a:off x="-2889600" y="4570175"/>
            <a:ext cx="5560800" cy="316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6"/>
          <p:cNvSpPr>
            <a:spLocks noGrp="1"/>
          </p:cNvSpPr>
          <p:nvPr>
            <p:ph type="pic" idx="5"/>
          </p:nvPr>
        </p:nvSpPr>
        <p:spPr>
          <a:xfrm>
            <a:off x="3569600" y="4570175"/>
            <a:ext cx="5560800" cy="31614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6"/>
          <p:cNvSpPr>
            <a:spLocks noGrp="1"/>
          </p:cNvSpPr>
          <p:nvPr>
            <p:ph type="pic" idx="6"/>
          </p:nvPr>
        </p:nvSpPr>
        <p:spPr>
          <a:xfrm>
            <a:off x="10028800" y="4570175"/>
            <a:ext cx="5560800" cy="31614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>
            <a:spLocks noGrp="1"/>
          </p:cNvSpPr>
          <p:nvPr>
            <p:ph type="pic" idx="7"/>
          </p:nvPr>
        </p:nvSpPr>
        <p:spPr>
          <a:xfrm>
            <a:off x="16431325" y="4595100"/>
            <a:ext cx="5560800" cy="31614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6"/>
          <p:cNvSpPr>
            <a:spLocks noGrp="1"/>
          </p:cNvSpPr>
          <p:nvPr>
            <p:ph type="pic" idx="8"/>
          </p:nvPr>
        </p:nvSpPr>
        <p:spPr>
          <a:xfrm>
            <a:off x="-552475" y="1032300"/>
            <a:ext cx="5560800" cy="3161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DM Serif Display"/>
              <a:buNone/>
              <a:defRPr sz="440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M Serif Display"/>
              <a:buChar char="•"/>
              <a:defRPr sz="320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Char char="–"/>
              <a:defRPr sz="28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Char char="•"/>
              <a:defRPr sz="24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–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»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M Sans"/>
              <a:buChar char="•"/>
              <a:defRPr sz="200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/>
        </p:nvSpPr>
        <p:spPr>
          <a:xfrm>
            <a:off x="704850" y="6833567"/>
            <a:ext cx="14234832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Лидер XXI века: ключевые характеристики и направления</a:t>
            </a:r>
            <a:endParaRPr sz="7200" dirty="0"/>
          </a:p>
        </p:txBody>
      </p:sp>
      <p:sp>
        <p:nvSpPr>
          <p:cNvPr id="34" name="Google Shape;34;p7"/>
          <p:cNvSpPr txBox="1"/>
          <p:nvPr/>
        </p:nvSpPr>
        <p:spPr>
          <a:xfrm>
            <a:off x="704850" y="9028589"/>
            <a:ext cx="10220121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Современный лидер - адаптивный и инновационный участник глобальных процессов.</a:t>
            </a:r>
            <a:endParaRPr dirty="0"/>
          </a:p>
        </p:txBody>
      </p:sp>
      <p:sp>
        <p:nvSpPr>
          <p:cNvPr id="36" name="Google Shape;36;p7"/>
          <p:cNvSpPr txBox="1"/>
          <p:nvPr/>
        </p:nvSpPr>
        <p:spPr>
          <a:xfrm>
            <a:off x="-177512" y="262685"/>
            <a:ext cx="2324967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March </a:t>
            </a:r>
            <a:r>
              <a:rPr lang="ru-RU" sz="21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9, 202</a:t>
            </a:r>
            <a:r>
              <a:rPr lang="ru-RU" sz="21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6</a:t>
            </a:r>
            <a:endParaRPr dirty="0"/>
          </a:p>
        </p:txBody>
      </p:sp>
      <p:sp>
        <p:nvSpPr>
          <p:cNvPr id="2" name="Google Shape;34;p7">
            <a:extLst>
              <a:ext uri="{FF2B5EF4-FFF2-40B4-BE49-F238E27FC236}">
                <a16:creationId xmlns:a16="http://schemas.microsoft.com/office/drawing/2014/main" id="{86C7E5FC-78FC-73E3-A6C6-F53B679EE173}"/>
              </a:ext>
            </a:extLst>
          </p:cNvPr>
          <p:cNvSpPr txBox="1"/>
          <p:nvPr/>
        </p:nvSpPr>
        <p:spPr>
          <a:xfrm>
            <a:off x="13758278" y="262685"/>
            <a:ext cx="530746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Выполнил: 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rgbClr val="FFFFFF"/>
                </a:solidFill>
                <a:latin typeface="DM Serif Display"/>
                <a:cs typeface="DM Serif Display"/>
                <a:sym typeface="DM Serif Display"/>
              </a:rPr>
              <a:t>Назаров Глеб ИНС-б-о-25-1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880781" y="1202771"/>
            <a:ext cx="15173400" cy="22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4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Понятие и эволюция лидерства</a:t>
            </a:r>
            <a:endParaRPr lang="en-US" dirty="0"/>
          </a:p>
        </p:txBody>
      </p:sp>
      <p:sp>
        <p:nvSpPr>
          <p:cNvPr id="2" name="Google Shape;34;p7">
            <a:extLst>
              <a:ext uri="{FF2B5EF4-FFF2-40B4-BE49-F238E27FC236}">
                <a16:creationId xmlns:a16="http://schemas.microsoft.com/office/drawing/2014/main" id="{3BD4A068-E878-CA91-D78C-234931AF4366}"/>
              </a:ext>
            </a:extLst>
          </p:cNvPr>
          <p:cNvSpPr txBox="1"/>
          <p:nvPr/>
        </p:nvSpPr>
        <p:spPr>
          <a:xfrm>
            <a:off x="880781" y="8021031"/>
            <a:ext cx="10406495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Лидерство менялось с веками, переходя от авторитарных моделей к партнерским стилям взаимодействия, отражая изменения в обществе и технологиях.</a:t>
            </a:r>
            <a:endParaRPr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5BB14D3-8B32-E805-97EC-742A9B498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165" y="2958697"/>
            <a:ext cx="8260825" cy="472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/>
        </p:nvSpPr>
        <p:spPr>
          <a:xfrm>
            <a:off x="1028699" y="1115855"/>
            <a:ext cx="162306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Стили лидерства: характеристики и различия</a:t>
            </a:r>
            <a:endParaRPr dirty="0"/>
          </a:p>
        </p:txBody>
      </p:sp>
      <p:sp>
        <p:nvSpPr>
          <p:cNvPr id="73" name="Google Shape;73;p12"/>
          <p:cNvSpPr txBox="1"/>
          <p:nvPr/>
        </p:nvSpPr>
        <p:spPr>
          <a:xfrm>
            <a:off x="1028099" y="5613647"/>
            <a:ext cx="4826400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Авторитарный стиль основан на контроле и строгом управлении, эффективен в кризисных ситуациях, но ограничивает инициативу команды</a:t>
            </a:r>
            <a:endParaRPr sz="3200" dirty="0"/>
          </a:p>
        </p:txBody>
      </p:sp>
      <p:sp>
        <p:nvSpPr>
          <p:cNvPr id="77" name="Google Shape;77;p12"/>
          <p:cNvSpPr txBox="1"/>
          <p:nvPr/>
        </p:nvSpPr>
        <p:spPr>
          <a:xfrm>
            <a:off x="6730799" y="5613848"/>
            <a:ext cx="48264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Демократический стиль поощряет участие и совместное принятие решений, способствуя вовлеченности и развитию сотрудников.</a:t>
            </a:r>
            <a:endParaRPr sz="3200" dirty="0"/>
          </a:p>
        </p:txBody>
      </p:sp>
      <p:sp>
        <p:nvSpPr>
          <p:cNvPr id="79" name="Google Shape;79;p12"/>
          <p:cNvSpPr txBox="1"/>
          <p:nvPr/>
        </p:nvSpPr>
        <p:spPr>
          <a:xfrm>
            <a:off x="12433501" y="5613647"/>
            <a:ext cx="48264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Трансформационный стиль вдохновляет команду на инновации и личностный рост, что особенно важно в быстро меняющемся мире.</a:t>
            </a:r>
            <a:endParaRPr sz="3200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A62E600-C7E6-A778-54BB-46197631B6A8}"/>
              </a:ext>
            </a:extLst>
          </p:cNvPr>
          <p:cNvCxnSpPr/>
          <p:nvPr/>
        </p:nvCxnSpPr>
        <p:spPr>
          <a:xfrm>
            <a:off x="6104965" y="5586753"/>
            <a:ext cx="0" cy="3812741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D55FA28-791F-6437-7347-B36EB20F03CE}"/>
              </a:ext>
            </a:extLst>
          </p:cNvPr>
          <p:cNvCxnSpPr/>
          <p:nvPr/>
        </p:nvCxnSpPr>
        <p:spPr>
          <a:xfrm>
            <a:off x="11903422" y="5586753"/>
            <a:ext cx="0" cy="3812741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/>
        </p:nvSpPr>
        <p:spPr>
          <a:xfrm>
            <a:off x="707768" y="890137"/>
            <a:ext cx="13156150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8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Сравнение ролей лидера по сферам деятельности</a:t>
            </a:r>
            <a:endParaRPr sz="1000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60B679C-01D7-1E75-4A35-D777FC171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154483"/>
              </p:ext>
            </p:extLst>
          </p:nvPr>
        </p:nvGraphicFramePr>
        <p:xfrm>
          <a:off x="707768" y="4158876"/>
          <a:ext cx="9310290" cy="47965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03430">
                  <a:extLst>
                    <a:ext uri="{9D8B030D-6E8A-4147-A177-3AD203B41FA5}">
                      <a16:colId xmlns:a16="http://schemas.microsoft.com/office/drawing/2014/main" val="3879579742"/>
                    </a:ext>
                  </a:extLst>
                </a:gridCol>
                <a:gridCol w="3103430">
                  <a:extLst>
                    <a:ext uri="{9D8B030D-6E8A-4147-A177-3AD203B41FA5}">
                      <a16:colId xmlns:a16="http://schemas.microsoft.com/office/drawing/2014/main" val="916904965"/>
                    </a:ext>
                  </a:extLst>
                </a:gridCol>
                <a:gridCol w="3103430">
                  <a:extLst>
                    <a:ext uri="{9D8B030D-6E8A-4147-A177-3AD203B41FA5}">
                      <a16:colId xmlns:a16="http://schemas.microsoft.com/office/drawing/2014/main" val="2027740744"/>
                    </a:ext>
                  </a:extLst>
                </a:gridCol>
              </a:tblGrid>
              <a:tr h="864580">
                <a:tc>
                  <a:txBody>
                    <a:bodyPr/>
                    <a:lstStyle/>
                    <a:p>
                      <a:r>
                        <a:rPr lang="ru-RU" sz="2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Сфера деятельности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Ключевые задачи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Известные лидеры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40865"/>
                  </a:ext>
                </a:extLst>
              </a:tr>
              <a:tr h="1208042">
                <a:tc>
                  <a:txBody>
                    <a:bodyPr/>
                    <a:lstStyle/>
                    <a:p>
                      <a:r>
                        <a:rPr lang="ru-RU" sz="26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Общественная</a:t>
                      </a:r>
                      <a:endParaRPr lang="ru-RU" sz="2600" b="0" i="0" u="none" strike="noStrike" cap="none" dirty="0">
                        <a:solidFill>
                          <a:schemeClr val="tx1"/>
                        </a:solidFill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Формирование ценностей, мобилизация граждан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Мартин Лютер Кинг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567854"/>
                  </a:ext>
                </a:extLst>
              </a:tr>
              <a:tr h="864580"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Корпоративная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Развитие бизнеса, управление командами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Илон Маск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258731"/>
                  </a:ext>
                </a:extLst>
              </a:tr>
              <a:tr h="864580"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Научная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Продвижение исследований и инноваций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Альберт Эйнштейн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017936"/>
                  </a:ext>
                </a:extLst>
              </a:tr>
            </a:tbl>
          </a:graphicData>
        </a:graphic>
      </p:graphicFrame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C6C8694-A495-A455-8161-56DD20A42B92}"/>
              </a:ext>
            </a:extLst>
          </p:cNvPr>
          <p:cNvSpPr/>
          <p:nvPr/>
        </p:nvSpPr>
        <p:spPr>
          <a:xfrm>
            <a:off x="11658600" y="4162725"/>
            <a:ext cx="5486400" cy="46565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Google Shape;73;p12">
            <a:extLst>
              <a:ext uri="{FF2B5EF4-FFF2-40B4-BE49-F238E27FC236}">
                <a16:creationId xmlns:a16="http://schemas.microsoft.com/office/drawing/2014/main" id="{EA75482A-B554-7896-E297-5FA49B688067}"/>
              </a:ext>
            </a:extLst>
          </p:cNvPr>
          <p:cNvSpPr txBox="1"/>
          <p:nvPr/>
        </p:nvSpPr>
        <p:spPr>
          <a:xfrm>
            <a:off x="12149964" y="4595073"/>
            <a:ext cx="4826400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Лидеры адаптируют свои задачи и подходы в зависимости от сферы деятельности и стоящих перед ними целей.</a:t>
            </a:r>
            <a:r>
              <a:rPr lang="en-US" sz="26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Роли лидера значительно изменяются в зависимости от сферы, что требует гибкости и специфических компетенций.</a:t>
            </a:r>
            <a:endParaRPr lang="en-US" sz="2600" b="0" i="0" u="none" strike="noStrike" cap="none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802213" y="847612"/>
            <a:ext cx="10666376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Лидер как общественный деятель: Мартин Лютер Кинг</a:t>
            </a:r>
            <a:endParaRPr dirty="0"/>
          </a:p>
        </p:txBody>
      </p:sp>
      <p:sp>
        <p:nvSpPr>
          <p:cNvPr id="111" name="Google Shape;111;p16"/>
          <p:cNvSpPr txBox="1"/>
          <p:nvPr/>
        </p:nvSpPr>
        <p:spPr>
          <a:xfrm>
            <a:off x="802213" y="4337798"/>
            <a:ext cx="39705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Голос равенства и справедливости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802213" y="5949202"/>
            <a:ext cx="3970500" cy="349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Мартин Лютер Кинг прославился ненасильственным сопротивлением и мощной ораторской речью, которая объединила людей в борьбе за права человека. Его идеи оказали глубокое воздействие на общество и законодательство США.</a:t>
            </a:r>
            <a:endParaRPr dirty="0"/>
          </a:p>
        </p:txBody>
      </p:sp>
      <p:sp>
        <p:nvSpPr>
          <p:cNvPr id="117" name="Google Shape;117;p16"/>
          <p:cNvSpPr txBox="1"/>
          <p:nvPr/>
        </p:nvSpPr>
        <p:spPr>
          <a:xfrm>
            <a:off x="13515287" y="4337798"/>
            <a:ext cx="39705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Лидерство через харизму и этику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13515286" y="5949202"/>
            <a:ext cx="3970500" cy="27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ru-RU" sz="21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Он сочетал харизматическое лидерство с высокой этической ответственностью, демонстрируя пример, как социальные перемены возможны через моральную силу и целеустремленность.</a:t>
            </a:r>
            <a:endParaRPr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3039389-D17F-35FE-BCF9-2A2A5B45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5143500"/>
            <a:ext cx="7048499" cy="396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0;p16">
            <a:extLst>
              <a:ext uri="{FF2B5EF4-FFF2-40B4-BE49-F238E27FC236}">
                <a16:creationId xmlns:a16="http://schemas.microsoft.com/office/drawing/2014/main" id="{70EFD802-8472-5A93-A3C6-045449B5E21E}"/>
              </a:ext>
            </a:extLst>
          </p:cNvPr>
          <p:cNvSpPr txBox="1"/>
          <p:nvPr/>
        </p:nvSpPr>
        <p:spPr>
          <a:xfrm>
            <a:off x="694637" y="896171"/>
            <a:ext cx="10666376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Основные качества лидера XXI века</a:t>
            </a:r>
            <a:endParaRPr dirty="0"/>
          </a:p>
        </p:txBody>
      </p:sp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A18C2BA5-2801-D55F-D38D-2C67A5FD5338}"/>
              </a:ext>
            </a:extLst>
          </p:cNvPr>
          <p:cNvSpPr/>
          <p:nvPr/>
        </p:nvSpPr>
        <p:spPr>
          <a:xfrm>
            <a:off x="694637" y="3317754"/>
            <a:ext cx="4827494" cy="2810436"/>
          </a:xfrm>
          <a:prstGeom prst="round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: один скругленный угол 4">
            <a:extLst>
              <a:ext uri="{FF2B5EF4-FFF2-40B4-BE49-F238E27FC236}">
                <a16:creationId xmlns:a16="http://schemas.microsoft.com/office/drawing/2014/main" id="{E1811C97-22FC-DE0F-837F-60BD910FDBC5}"/>
              </a:ext>
            </a:extLst>
          </p:cNvPr>
          <p:cNvSpPr/>
          <p:nvPr/>
        </p:nvSpPr>
        <p:spPr>
          <a:xfrm flipH="1" flipV="1">
            <a:off x="694637" y="6377572"/>
            <a:ext cx="4827492" cy="2810435"/>
          </a:xfrm>
          <a:prstGeom prst="round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один скругленный угол 5">
            <a:extLst>
              <a:ext uri="{FF2B5EF4-FFF2-40B4-BE49-F238E27FC236}">
                <a16:creationId xmlns:a16="http://schemas.microsoft.com/office/drawing/2014/main" id="{7D2CF417-D623-AEF0-4FDF-34060872214E}"/>
              </a:ext>
            </a:extLst>
          </p:cNvPr>
          <p:cNvSpPr/>
          <p:nvPr/>
        </p:nvSpPr>
        <p:spPr>
          <a:xfrm>
            <a:off x="5720450" y="6377571"/>
            <a:ext cx="4827492" cy="2810435"/>
          </a:xfrm>
          <a:prstGeom prst="round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один скругленный угол 6">
            <a:extLst>
              <a:ext uri="{FF2B5EF4-FFF2-40B4-BE49-F238E27FC236}">
                <a16:creationId xmlns:a16="http://schemas.microsoft.com/office/drawing/2014/main" id="{60B33D3E-54AC-4E1D-7104-DAD43B28FBE7}"/>
              </a:ext>
            </a:extLst>
          </p:cNvPr>
          <p:cNvSpPr/>
          <p:nvPr/>
        </p:nvSpPr>
        <p:spPr>
          <a:xfrm flipH="1">
            <a:off x="5774772" y="3317753"/>
            <a:ext cx="4827492" cy="2810435"/>
          </a:xfrm>
          <a:prstGeom prst="round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Google Shape;114;p16">
            <a:extLst>
              <a:ext uri="{FF2B5EF4-FFF2-40B4-BE49-F238E27FC236}">
                <a16:creationId xmlns:a16="http://schemas.microsoft.com/office/drawing/2014/main" id="{0F0117F1-2B3F-B8ED-6DC0-0B041639B3AC}"/>
              </a:ext>
            </a:extLst>
          </p:cNvPr>
          <p:cNvSpPr txBox="1"/>
          <p:nvPr/>
        </p:nvSpPr>
        <p:spPr>
          <a:xfrm>
            <a:off x="947278" y="3430310"/>
            <a:ext cx="471013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Мартин Лютер Кинг прославился ненасильственным сопротивлением и мощной ораторской речью, которая объединила людей в борьбе за права человека. Его идеи оказали глубокое воздействие на общество и законодательство США.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0" name="Google Shape;114;p16">
            <a:extLst>
              <a:ext uri="{FF2B5EF4-FFF2-40B4-BE49-F238E27FC236}">
                <a16:creationId xmlns:a16="http://schemas.microsoft.com/office/drawing/2014/main" id="{72DC2A5B-D1F0-36E2-8CF9-6FDE26A347B1}"/>
              </a:ext>
            </a:extLst>
          </p:cNvPr>
          <p:cNvSpPr txBox="1"/>
          <p:nvPr/>
        </p:nvSpPr>
        <p:spPr>
          <a:xfrm>
            <a:off x="891858" y="6931026"/>
            <a:ext cx="457485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Стрессоустойчивость помогает лидеру сохранять концентрацию и принимать решения в сложных и быстро меняющихся условиях.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1" name="Google Shape;114;p16">
            <a:extLst>
              <a:ext uri="{FF2B5EF4-FFF2-40B4-BE49-F238E27FC236}">
                <a16:creationId xmlns:a16="http://schemas.microsoft.com/office/drawing/2014/main" id="{9F76392B-17F1-0CE2-146C-C976A6A632E0}"/>
              </a:ext>
            </a:extLst>
          </p:cNvPr>
          <p:cNvSpPr txBox="1"/>
          <p:nvPr/>
        </p:nvSpPr>
        <p:spPr>
          <a:xfrm>
            <a:off x="5910054" y="4168972"/>
            <a:ext cx="457485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Эмпатия и умение развивать команду способствуют формированию доверия и эффективной совместной работе.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2" name="Google Shape;114;p16">
            <a:extLst>
              <a:ext uri="{FF2B5EF4-FFF2-40B4-BE49-F238E27FC236}">
                <a16:creationId xmlns:a16="http://schemas.microsoft.com/office/drawing/2014/main" id="{097BF789-E447-2791-961B-5C4D8E0F8409}"/>
              </a:ext>
            </a:extLst>
          </p:cNvPr>
          <p:cNvSpPr txBox="1"/>
          <p:nvPr/>
        </p:nvSpPr>
        <p:spPr>
          <a:xfrm>
            <a:off x="5846770" y="6859458"/>
            <a:ext cx="457485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Готовность к непрерывному обучению и адаптации обеспечивает актуальность и конкурентоспособность лидера в меняющемся мире.</a:t>
            </a: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849C48A6-E4BC-6A85-3946-67FA3B3EF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3276" y="3875410"/>
            <a:ext cx="5784386" cy="428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705969" y="597050"/>
            <a:ext cx="11799796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Процесс принятия решений лидером</a:t>
            </a:r>
            <a:endParaRPr dirty="0"/>
          </a:p>
        </p:txBody>
      </p:sp>
      <p:sp>
        <p:nvSpPr>
          <p:cNvPr id="156" name="Google Shape;156;p20"/>
          <p:cNvSpPr txBox="1"/>
          <p:nvPr/>
        </p:nvSpPr>
        <p:spPr>
          <a:xfrm>
            <a:off x="705969" y="3068395"/>
            <a:ext cx="14192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Этапы управления и коммуникации в лидерстве</a:t>
            </a:r>
            <a:endParaRPr sz="1800" dirty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A16B351-E42C-D105-F261-D97C5F466684}"/>
              </a:ext>
            </a:extLst>
          </p:cNvPr>
          <p:cNvCxnSpPr>
            <a:cxnSpLocks/>
          </p:cNvCxnSpPr>
          <p:nvPr/>
        </p:nvCxnSpPr>
        <p:spPr>
          <a:xfrm flipH="1">
            <a:off x="403413" y="2595282"/>
            <a:ext cx="1741394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6238D46-34F3-9972-8F03-BE1F330E22A4}"/>
              </a:ext>
            </a:extLst>
          </p:cNvPr>
          <p:cNvSpPr/>
          <p:nvPr/>
        </p:nvSpPr>
        <p:spPr>
          <a:xfrm>
            <a:off x="1246092" y="5143500"/>
            <a:ext cx="3025589" cy="14657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Google Shape;34;p7">
            <a:extLst>
              <a:ext uri="{FF2B5EF4-FFF2-40B4-BE49-F238E27FC236}">
                <a16:creationId xmlns:a16="http://schemas.microsoft.com/office/drawing/2014/main" id="{5DDBA40E-CB7D-B0A1-63BD-B61D1F1F3201}"/>
              </a:ext>
            </a:extLst>
          </p:cNvPr>
          <p:cNvSpPr txBox="1"/>
          <p:nvPr/>
        </p:nvSpPr>
        <p:spPr>
          <a:xfrm>
            <a:off x="1353668" y="5704009"/>
            <a:ext cx="2918013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tx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Анализ ситуации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FE95A53-1CD2-301B-8DD2-DB0BAB63C6EF}"/>
              </a:ext>
            </a:extLst>
          </p:cNvPr>
          <p:cNvSpPr/>
          <p:nvPr/>
        </p:nvSpPr>
        <p:spPr>
          <a:xfrm>
            <a:off x="5665694" y="5128887"/>
            <a:ext cx="3025589" cy="14657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Google Shape;34;p7">
            <a:extLst>
              <a:ext uri="{FF2B5EF4-FFF2-40B4-BE49-F238E27FC236}">
                <a16:creationId xmlns:a16="http://schemas.microsoft.com/office/drawing/2014/main" id="{B139A61E-E67E-1F70-2693-D1A9E02DD79D}"/>
              </a:ext>
            </a:extLst>
          </p:cNvPr>
          <p:cNvSpPr txBox="1"/>
          <p:nvPr/>
        </p:nvSpPr>
        <p:spPr>
          <a:xfrm>
            <a:off x="5936876" y="5517041"/>
            <a:ext cx="248322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tx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Формулировка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solidFill>
                  <a:schemeClr val="tx1"/>
                </a:solidFill>
                <a:latin typeface="DM Serif Display"/>
                <a:sym typeface="DM Serif Display"/>
              </a:rPr>
              <a:t>цели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FC1B156-7C08-28D0-94BF-59A5ACF37A6C}"/>
              </a:ext>
            </a:extLst>
          </p:cNvPr>
          <p:cNvSpPr/>
          <p:nvPr/>
        </p:nvSpPr>
        <p:spPr>
          <a:xfrm>
            <a:off x="9932895" y="5128887"/>
            <a:ext cx="3025589" cy="14657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Google Shape;34;p7">
            <a:extLst>
              <a:ext uri="{FF2B5EF4-FFF2-40B4-BE49-F238E27FC236}">
                <a16:creationId xmlns:a16="http://schemas.microsoft.com/office/drawing/2014/main" id="{3A0B6BAB-4AB5-E692-AE38-87501779ECBF}"/>
              </a:ext>
            </a:extLst>
          </p:cNvPr>
          <p:cNvSpPr txBox="1"/>
          <p:nvPr/>
        </p:nvSpPr>
        <p:spPr>
          <a:xfrm>
            <a:off x="10204077" y="5517041"/>
            <a:ext cx="248322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tx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Генерация альтернатив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7045A43-D167-76F0-2AAF-3D9CF68BA165}"/>
              </a:ext>
            </a:extLst>
          </p:cNvPr>
          <p:cNvSpPr/>
          <p:nvPr/>
        </p:nvSpPr>
        <p:spPr>
          <a:xfrm>
            <a:off x="14016319" y="5115441"/>
            <a:ext cx="3025589" cy="14657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Google Shape;34;p7">
            <a:extLst>
              <a:ext uri="{FF2B5EF4-FFF2-40B4-BE49-F238E27FC236}">
                <a16:creationId xmlns:a16="http://schemas.microsoft.com/office/drawing/2014/main" id="{045AE1B8-143A-761E-D2E2-D103018CE4F5}"/>
              </a:ext>
            </a:extLst>
          </p:cNvPr>
          <p:cNvSpPr txBox="1"/>
          <p:nvPr/>
        </p:nvSpPr>
        <p:spPr>
          <a:xfrm>
            <a:off x="14287501" y="5503595"/>
            <a:ext cx="248322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tx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Выбор решения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DBFBC77-CD22-B011-D526-EF738CE2797C}"/>
              </a:ext>
            </a:extLst>
          </p:cNvPr>
          <p:cNvSpPr/>
          <p:nvPr/>
        </p:nvSpPr>
        <p:spPr>
          <a:xfrm>
            <a:off x="9932895" y="7864823"/>
            <a:ext cx="3025589" cy="14657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Google Shape;34;p7">
            <a:extLst>
              <a:ext uri="{FF2B5EF4-FFF2-40B4-BE49-F238E27FC236}">
                <a16:creationId xmlns:a16="http://schemas.microsoft.com/office/drawing/2014/main" id="{2FBBF5FB-BD2B-0741-2A5E-29E1F3E02571}"/>
              </a:ext>
            </a:extLst>
          </p:cNvPr>
          <p:cNvSpPr txBox="1"/>
          <p:nvPr/>
        </p:nvSpPr>
        <p:spPr>
          <a:xfrm>
            <a:off x="10204077" y="8427789"/>
            <a:ext cx="248322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tx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Реализация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41FF168-C6A8-D160-C6CE-BCE588F92A10}"/>
              </a:ext>
            </a:extLst>
          </p:cNvPr>
          <p:cNvSpPr/>
          <p:nvPr/>
        </p:nvSpPr>
        <p:spPr>
          <a:xfrm>
            <a:off x="14016319" y="7876926"/>
            <a:ext cx="3025589" cy="14657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Google Shape;34;p7">
            <a:extLst>
              <a:ext uri="{FF2B5EF4-FFF2-40B4-BE49-F238E27FC236}">
                <a16:creationId xmlns:a16="http://schemas.microsoft.com/office/drawing/2014/main" id="{F89FF817-A345-22E0-7F85-99E3B779851A}"/>
              </a:ext>
            </a:extLst>
          </p:cNvPr>
          <p:cNvSpPr txBox="1"/>
          <p:nvPr/>
        </p:nvSpPr>
        <p:spPr>
          <a:xfrm>
            <a:off x="14287502" y="8097768"/>
            <a:ext cx="2483224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 dirty="0">
                <a:solidFill>
                  <a:schemeClr val="tx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Обратная связь и корректировка</a:t>
            </a: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B4F43C6-9C3A-0536-0F0B-C79E2A8D3E0B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4271681" y="5861752"/>
            <a:ext cx="1394013" cy="14612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8A6657B-E25C-BCAA-6C0E-E353734F5D5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8706971" y="5848305"/>
            <a:ext cx="1225924" cy="13447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75C7027A-2368-F4F8-196A-B3A783EE3B14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12925986" y="5848306"/>
            <a:ext cx="1090333" cy="7305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A389C124-482B-80F4-4163-0C00DE48F189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15529114" y="6581170"/>
            <a:ext cx="0" cy="1295756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9451AB71-6B56-C8DF-2E5C-3B89ECFDBE30}"/>
              </a:ext>
            </a:extLst>
          </p:cNvPr>
          <p:cNvCxnSpPr>
            <a:cxnSpLocks/>
            <a:stCxn id="19" idx="1"/>
            <a:endCxn id="17" idx="3"/>
          </p:cNvCxnSpPr>
          <p:nvPr/>
        </p:nvCxnSpPr>
        <p:spPr>
          <a:xfrm flipH="1" flipV="1">
            <a:off x="12958484" y="8597688"/>
            <a:ext cx="1057835" cy="12103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/>
        </p:nvSpPr>
        <p:spPr>
          <a:xfrm>
            <a:off x="523726" y="592975"/>
            <a:ext cx="13395473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Лидер в разных сферах: бизнес, политика, наука, общество</a:t>
            </a:r>
            <a:endParaRPr dirty="0"/>
          </a:p>
        </p:txBody>
      </p:sp>
      <p:sp>
        <p:nvSpPr>
          <p:cNvPr id="64" name="Google Shape;64;p11"/>
          <p:cNvSpPr txBox="1"/>
          <p:nvPr/>
        </p:nvSpPr>
        <p:spPr>
          <a:xfrm>
            <a:off x="349555" y="8078198"/>
            <a:ext cx="5891588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Илон Маск трансформировал целые отрасли, внедряя смелые идеи и вдохновляя команды на достижение амбициозных целей, сочетая технологическое видение и предпринимательскую настойчивость.</a:t>
            </a:r>
            <a:endParaRPr dirty="0"/>
          </a:p>
        </p:txBody>
      </p:sp>
      <p:sp>
        <p:nvSpPr>
          <p:cNvPr id="2" name="Google Shape;111;p16">
            <a:extLst>
              <a:ext uri="{FF2B5EF4-FFF2-40B4-BE49-F238E27FC236}">
                <a16:creationId xmlns:a16="http://schemas.microsoft.com/office/drawing/2014/main" id="{25B167E1-C0A2-B0D1-2823-F50545DDF111}"/>
              </a:ext>
            </a:extLst>
          </p:cNvPr>
          <p:cNvSpPr txBox="1"/>
          <p:nvPr/>
        </p:nvSpPr>
        <p:spPr>
          <a:xfrm>
            <a:off x="349555" y="6674598"/>
            <a:ext cx="540990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Илон Маск — инновации в бизнесе</a:t>
            </a:r>
            <a:endParaRPr sz="1200" dirty="0"/>
          </a:p>
        </p:txBody>
      </p:sp>
      <p:sp>
        <p:nvSpPr>
          <p:cNvPr id="3" name="Google Shape;64;p11">
            <a:extLst>
              <a:ext uri="{FF2B5EF4-FFF2-40B4-BE49-F238E27FC236}">
                <a16:creationId xmlns:a16="http://schemas.microsoft.com/office/drawing/2014/main" id="{D02855BB-C0E7-37E8-5155-15141B55011E}"/>
              </a:ext>
            </a:extLst>
          </p:cNvPr>
          <p:cNvSpPr txBox="1"/>
          <p:nvPr/>
        </p:nvSpPr>
        <p:spPr>
          <a:xfrm>
            <a:off x="6372983" y="8078198"/>
            <a:ext cx="5891588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Будучи канцлером Германии, Меркель проявила прагматизм и выдержку, уверенно управляя страной в сложные периоды и поддерживая международное сотрудничество.</a:t>
            </a:r>
            <a:endParaRPr dirty="0"/>
          </a:p>
        </p:txBody>
      </p:sp>
      <p:sp>
        <p:nvSpPr>
          <p:cNvPr id="4" name="Google Shape;111;p16">
            <a:extLst>
              <a:ext uri="{FF2B5EF4-FFF2-40B4-BE49-F238E27FC236}">
                <a16:creationId xmlns:a16="http://schemas.microsoft.com/office/drawing/2014/main" id="{E44BE450-DF1F-C84F-D399-0A0CDBB01C7B}"/>
              </a:ext>
            </a:extLst>
          </p:cNvPr>
          <p:cNvSpPr txBox="1"/>
          <p:nvPr/>
        </p:nvSpPr>
        <p:spPr>
          <a:xfrm>
            <a:off x="6372983" y="6674598"/>
            <a:ext cx="565210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Ангела Меркель — пример ответственной политики</a:t>
            </a:r>
            <a:endParaRPr sz="1200" dirty="0"/>
          </a:p>
        </p:txBody>
      </p:sp>
      <p:sp>
        <p:nvSpPr>
          <p:cNvPr id="7" name="Google Shape;64;p11">
            <a:extLst>
              <a:ext uri="{FF2B5EF4-FFF2-40B4-BE49-F238E27FC236}">
                <a16:creationId xmlns:a16="http://schemas.microsoft.com/office/drawing/2014/main" id="{31514F0A-9BC4-2774-4E88-D6011A4D73B8}"/>
              </a:ext>
            </a:extLst>
          </p:cNvPr>
          <p:cNvSpPr txBox="1"/>
          <p:nvPr/>
        </p:nvSpPr>
        <p:spPr>
          <a:xfrm>
            <a:off x="12396412" y="8078198"/>
            <a:ext cx="5891588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1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Главный конструктор советской космической программы, Королёв воплощал видение и целеустремленность, делая прорыв в исследовании космоса возможным благодаря командной работе и инновациям.</a:t>
            </a:r>
            <a:endParaRPr dirty="0"/>
          </a:p>
        </p:txBody>
      </p:sp>
      <p:sp>
        <p:nvSpPr>
          <p:cNvPr id="8" name="Google Shape;111;p16">
            <a:extLst>
              <a:ext uri="{FF2B5EF4-FFF2-40B4-BE49-F238E27FC236}">
                <a16:creationId xmlns:a16="http://schemas.microsoft.com/office/drawing/2014/main" id="{2180ED02-08A8-4EA3-0F09-5EDCE0A3E530}"/>
              </a:ext>
            </a:extLst>
          </p:cNvPr>
          <p:cNvSpPr txBox="1"/>
          <p:nvPr/>
        </p:nvSpPr>
        <p:spPr>
          <a:xfrm>
            <a:off x="12396412" y="6674598"/>
            <a:ext cx="565210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3200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Сергей Королёв — лидер научных достижений</a:t>
            </a:r>
            <a:endParaRPr lang="ru-RU" sz="3200" dirty="0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4809A7EB-94AB-0060-E3C0-8660F6015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82" y="2436423"/>
            <a:ext cx="5579075" cy="383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DA4B3094-251D-FB88-D324-506F291F3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143" y="2436423"/>
            <a:ext cx="5652102" cy="383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>
            <a:extLst>
              <a:ext uri="{FF2B5EF4-FFF2-40B4-BE49-F238E27FC236}">
                <a16:creationId xmlns:a16="http://schemas.microsoft.com/office/drawing/2014/main" id="{8CD896D6-A459-190B-F835-9C505718C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6412" y="2436423"/>
            <a:ext cx="5711206" cy="383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07077" y="3396843"/>
            <a:ext cx="15025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Портрет лидера XXI века: ключевые черты</a:t>
            </a:r>
            <a:endParaRPr sz="6000" dirty="0"/>
          </a:p>
        </p:txBody>
      </p:sp>
      <p:sp>
        <p:nvSpPr>
          <p:cNvPr id="2" name="Google Shape;111;p16">
            <a:extLst>
              <a:ext uri="{FF2B5EF4-FFF2-40B4-BE49-F238E27FC236}">
                <a16:creationId xmlns:a16="http://schemas.microsoft.com/office/drawing/2014/main" id="{EF7505BD-29CB-91B2-E5AE-77C878E9CBF1}"/>
              </a:ext>
            </a:extLst>
          </p:cNvPr>
          <p:cNvSpPr txBox="1"/>
          <p:nvPr/>
        </p:nvSpPr>
        <p:spPr>
          <a:xfrm>
            <a:off x="1007077" y="4773227"/>
            <a:ext cx="10463588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cap="none" dirty="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Современный лидер — это стратегический новатор с высокими этическими стандартами, умеющий адаптироваться, вдохновлять и эффективно взаимодействовать в глобальном и мультикультурном пространстве.</a:t>
            </a:r>
            <a:endParaRPr sz="1200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E12C89FC-EBB5-692A-743F-1B564F09D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828" y="6091239"/>
            <a:ext cx="5453743" cy="374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Professional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482</Words>
  <Application>Microsoft Office PowerPoint</Application>
  <PresentationFormat>Произвольный</PresentationFormat>
  <Paragraphs>54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</vt:lpstr>
      <vt:lpstr>DM Sans</vt:lpstr>
      <vt:lpstr>DM Serif Display</vt:lpstr>
      <vt:lpstr>Arial</vt:lpstr>
      <vt:lpstr>Professional Minimalist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Глеб Назаров</cp:lastModifiedBy>
  <cp:revision>4</cp:revision>
  <dcterms:modified xsi:type="dcterms:W3CDTF">2026-03-29T11:04:02Z</dcterms:modified>
</cp:coreProperties>
</file>